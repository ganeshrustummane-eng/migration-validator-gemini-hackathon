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C16"/>
              </a:gs>
              <a:gs pos="100000">
                <a:srgbClr val="0C1A2C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5752" y="-4114800"/>
            <a:ext cx="6400800" cy="6400800"/>
          </a:xfrm>
          <a:prstGeom prst="ellipse">
            <a:avLst/>
          </a:prstGeom>
          <a:solidFill>
            <a:srgbClr val="00B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91840" y="4754880"/>
            <a:ext cx="5120640" cy="5120640"/>
          </a:xfrm>
          <a:prstGeom prst="ellipse">
            <a:avLst/>
          </a:prstGeom>
          <a:solidFill>
            <a:srgbClr val="00B4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0" y="0"/>
            <a:ext cx="7620" cy="6858000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79208" y="0"/>
            <a:ext cx="7620" cy="6858000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74736" y="0"/>
            <a:ext cx="7620" cy="6858000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70264" y="0"/>
            <a:ext cx="7620" cy="6858000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65792" y="0"/>
            <a:ext cx="7620" cy="6858000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61320" y="0"/>
            <a:ext cx="7620" cy="6858000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56848" y="0"/>
            <a:ext cx="7620" cy="6858000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6492240" cy="508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68680"/>
            <a:ext cx="6492240" cy="508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737360"/>
            <a:ext cx="6492240" cy="508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606039"/>
            <a:ext cx="6492240" cy="508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74720"/>
            <a:ext cx="6492240" cy="508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343400"/>
            <a:ext cx="6492240" cy="508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212079"/>
            <a:ext cx="6492240" cy="508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080759"/>
            <a:ext cx="6492240" cy="508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gradFill>
            <a:gsLst>
              <a:gs pos="0">
                <a:srgbClr val="00B4FF"/>
              </a:gs>
              <a:gs pos="100000">
                <a:srgbClr val="005599"/>
              </a:gs>
            </a:gsLst>
            <a:lin ang="0" scaled="0"/>
          </a:gradFill>
          <a:xfrm>
            <a:off x="0" y="0"/>
            <a:ext cx="6492240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4048"/>
            <a:ext cx="3291840" cy="274320"/>
          </a:xfrm>
          <a:prstGeom prst="roundRect">
            <a:avLst>
              <a:gd name="adj" fmla="val 20000"/>
            </a:avLst>
          </a:prstGeom>
          <a:solidFill>
            <a:srgbClr val="00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40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B4FF"/>
                </a:solidFill>
                <a:latin typeface="Segoe UI"/>
              </a:rPr>
              <a:t>⬡  EPAM HACKATHON · STREAM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914400"/>
            <a:ext cx="5669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  <a:latin typeface="Segoe UI"/>
              </a:rPr>
              <a:t>Migration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011680"/>
            <a:ext cx="5669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1" i="0">
                <a:solidFill>
                  <a:srgbClr val="00B4FF"/>
                </a:solidFill>
                <a:latin typeface="Segoe UI"/>
              </a:rPr>
              <a:t>Validator</a:t>
            </a:r>
          </a:p>
        </p:txBody>
      </p:sp>
      <p:sp>
        <p:nvSpPr>
          <p:cNvPr id="26" name="Rectangle 25"/>
          <p:cNvSpPr/>
          <p:nvPr/>
        </p:nvSpPr>
        <p:spPr>
          <a:gradFill>
            <a:gsLst>
              <a:gs pos="0">
                <a:srgbClr val="00B4FF"/>
              </a:gs>
              <a:gs pos="100000">
                <a:srgbClr val="00FFD4"/>
              </a:gs>
            </a:gsLst>
            <a:lin ang="0" scaled="0"/>
          </a:gradFill>
          <a:xfrm>
            <a:off x="502920" y="3200400"/>
            <a:ext cx="4754880" cy="5943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364992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50" b="0" i="0">
                <a:solidFill>
                  <a:srgbClr val="BDD5EE"/>
                </a:solidFill>
                <a:latin typeface="Segoe UI"/>
              </a:rPr>
              <a:t>Gemini-Enabled Enterprise Migration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041648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8AA8"/>
                </a:solidFill>
                <a:latin typeface="Segoe UI"/>
              </a:rPr>
              <a:t>"Natural language. Human oversight. Audit trail."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846320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46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B4FF"/>
                </a:solidFill>
                <a:latin typeface="Segoe UI"/>
              </a:rPr>
              <a:t>24 Gemini 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39" y="4846320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39" y="4846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FFD4"/>
                </a:solidFill>
                <a:latin typeface="Segoe UI"/>
              </a:rPr>
              <a:t>RBAC · OCC · Audit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4846320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59" y="4846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E576"/>
                </a:solidFill>
                <a:latin typeface="Segoe UI"/>
              </a:rPr>
              <a:t>31/31 Tests 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65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FF"/>
                </a:solidFill>
                <a:latin typeface="Segoe UI"/>
              </a:rPr>
              <a:t>ARCHITECTURE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903720" y="640080"/>
            <a:ext cx="4800600" cy="0"/>
          </a:xfrm>
          <a:prstGeom prst="line">
            <a:avLst/>
          </a:prstGeom>
          <a:ln w="635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903720" y="749808"/>
            <a:ext cx="4919472" cy="594360"/>
          </a:xfrm>
          <a:prstGeom prst="roundRect">
            <a:avLst>
              <a:gd name="adj" fmla="val 8000"/>
            </a:avLst>
          </a:prstGeom>
          <a:solidFill>
            <a:srgbClr val="001E3A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03720" y="859536"/>
            <a:ext cx="41148" cy="3657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9168" y="74980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B4FF"/>
                </a:solidFill>
                <a:latin typeface="Segoe UI"/>
              </a:rPr>
              <a:t>⬡  Gemini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363456" y="1344168"/>
            <a:ext cx="0" cy="201168"/>
          </a:xfrm>
          <a:prstGeom prst="line">
            <a:avLst/>
          </a:prstGeom>
          <a:ln w="254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244584" y="148132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FF"/>
                </a:solidFill>
                <a:latin typeface="Segoe UI"/>
              </a:rPr>
              <a:t>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03720" y="1572768"/>
            <a:ext cx="4919472" cy="594360"/>
          </a:xfrm>
          <a:prstGeom prst="roundRect">
            <a:avLst>
              <a:gd name="adj" fmla="val 8000"/>
            </a:avLst>
          </a:prstGeom>
          <a:solidFill>
            <a:srgbClr val="001A2C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03720" y="1682496"/>
            <a:ext cx="41148" cy="365760"/>
          </a:xfrm>
          <a:prstGeom prst="rect">
            <a:avLst/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59168" y="157276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FFD4"/>
                </a:solidFill>
                <a:latin typeface="Segoe UI"/>
              </a:rPr>
              <a:t>⧉  Migration Connector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363456" y="2167128"/>
            <a:ext cx="0" cy="201168"/>
          </a:xfrm>
          <a:prstGeom prst="line">
            <a:avLst/>
          </a:prstGeom>
          <a:ln w="254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244584" y="230428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FF"/>
                </a:solidFill>
                <a:latin typeface="Segoe UI"/>
              </a:rPr>
              <a:t>▾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03720" y="2395728"/>
            <a:ext cx="4919472" cy="594360"/>
          </a:xfrm>
          <a:prstGeom prst="roundRect">
            <a:avLst>
              <a:gd name="adj" fmla="val 8000"/>
            </a:avLst>
          </a:prstGeom>
          <a:solidFill>
            <a:srgbClr val="001818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03720" y="2505456"/>
            <a:ext cx="41148" cy="36576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9168" y="239572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E576"/>
                </a:solidFill>
                <a:latin typeface="Segoe UI"/>
              </a:rPr>
              <a:t>⚙  Validation Engine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363456" y="2990088"/>
            <a:ext cx="0" cy="201168"/>
          </a:xfrm>
          <a:prstGeom prst="line">
            <a:avLst/>
          </a:prstGeom>
          <a:ln w="254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244584" y="312724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FF"/>
                </a:solidFill>
                <a:latin typeface="Segoe UI"/>
              </a:rPr>
              <a:t>▾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03720" y="3218688"/>
            <a:ext cx="4919472" cy="594360"/>
          </a:xfrm>
          <a:prstGeom prst="roundRect">
            <a:avLst>
              <a:gd name="adj" fmla="val 8000"/>
            </a:avLst>
          </a:prstGeom>
          <a:solidFill>
            <a:srgbClr val="0E1C28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03720" y="3328416"/>
            <a:ext cx="41148" cy="365760"/>
          </a:xfrm>
          <a:prstGeom prst="rect">
            <a:avLst/>
          </a:prstGeom>
          <a:solidFill>
            <a:srgbClr val="6B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59168" y="321868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6B8AA8"/>
                </a:solidFill>
                <a:latin typeface="Segoe UI"/>
              </a:rPr>
              <a:t>⛁  PostgreSQL · MSSQL · Athena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363456" y="3813048"/>
            <a:ext cx="0" cy="201168"/>
          </a:xfrm>
          <a:prstGeom prst="line">
            <a:avLst/>
          </a:prstGeom>
          <a:ln w="254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244584" y="395020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FF"/>
                </a:solidFill>
                <a:latin typeface="Segoe UI"/>
              </a:rPr>
              <a:t>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03720" y="4041648"/>
            <a:ext cx="4919472" cy="594360"/>
          </a:xfrm>
          <a:prstGeom prst="roundRect">
            <a:avLst>
              <a:gd name="adj" fmla="val 8000"/>
            </a:avLst>
          </a:prstGeom>
          <a:solidFill>
            <a:srgbClr val="0A1E30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903720" y="4151376"/>
            <a:ext cx="41148" cy="365760"/>
          </a:xfrm>
          <a:prstGeom prst="rect">
            <a:avLst/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59168" y="404164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FFD4"/>
                </a:solidFill>
                <a:latin typeface="Segoe UI"/>
              </a:rPr>
              <a:t>❄  Snowflake Target</a:t>
            </a:r>
          </a:p>
        </p:txBody>
      </p:sp>
      <p:sp>
        <p:nvSpPr>
          <p:cNvPr id="60" name="Rectangle 59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6903720" y="5486400"/>
            <a:ext cx="1207008" cy="1024128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06640" y="5577840"/>
            <a:ext cx="201168" cy="50292"/>
          </a:xfrm>
          <a:prstGeom prst="roundRect">
            <a:avLst>
              <a:gd name="adj" fmla="val 20000"/>
            </a:avLst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03720" y="5669280"/>
            <a:ext cx="1207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FFD4"/>
                </a:solidFill>
                <a:latin typeface="Segoe UI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3720" y="6291072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Gemini Tools</a:t>
            </a:r>
          </a:p>
        </p:txBody>
      </p:sp>
      <p:sp>
        <p:nvSpPr>
          <p:cNvPr id="64" name="Rectangle 63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8165592" y="5486400"/>
            <a:ext cx="1207008" cy="1024128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668512" y="5577840"/>
            <a:ext cx="201168" cy="50292"/>
          </a:xfrm>
          <a:prstGeom prst="roundRect">
            <a:avLst>
              <a:gd name="adj" fmla="val 20000"/>
            </a:avLst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65592" y="5669280"/>
            <a:ext cx="1207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FFD4"/>
                </a:solidFill>
                <a:latin typeface="Sego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65592" y="6291072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RBAC Roles</a:t>
            </a:r>
          </a:p>
        </p:txBody>
      </p:sp>
      <p:sp>
        <p:nvSpPr>
          <p:cNvPr id="68" name="Rectangle 67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9427464" y="5486400"/>
            <a:ext cx="1207008" cy="1024128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930384" y="5577840"/>
            <a:ext cx="201168" cy="50292"/>
          </a:xfrm>
          <a:prstGeom prst="roundRect">
            <a:avLst>
              <a:gd name="adj" fmla="val 20000"/>
            </a:avLst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27464" y="5669280"/>
            <a:ext cx="1207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FFD4"/>
                </a:solidFill>
                <a:latin typeface="Segoe U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27464" y="6291072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Source DBs</a:t>
            </a:r>
          </a:p>
        </p:txBody>
      </p:sp>
      <p:sp>
        <p:nvSpPr>
          <p:cNvPr id="72" name="Rectangle 71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10689336" y="5486400"/>
            <a:ext cx="1207008" cy="1024128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192256" y="5577840"/>
            <a:ext cx="201168" cy="50292"/>
          </a:xfrm>
          <a:prstGeom prst="roundRect">
            <a:avLst>
              <a:gd name="adj" fmla="val 20000"/>
            </a:avLst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689336" y="5669280"/>
            <a:ext cx="1207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FFD4"/>
                </a:solidFill>
                <a:latin typeface="Segoe UI"/>
              </a:rPr>
              <a:t>31✓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89336" y="6291072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Security Tests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AA8"/>
                </a:solidFill>
                <a:latin typeface="Segoe UI"/>
              </a:rPr>
              <a:t>EPAM Hackathon 2026  ·  Stream 3: Connectors for Gemini Applications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503152" y="65562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8AA8"/>
                </a:solidFill>
                <a:latin typeface="Segoe U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60A14"/>
              </a:gs>
              <a:gs pos="100000">
                <a:srgbClr val="0E1826"/>
              </a:gs>
            </a:gsLst>
            <a:lin ang="84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5752" y="-4114800"/>
            <a:ext cx="6400800" cy="6400800"/>
          </a:xfrm>
          <a:prstGeom prst="ellipse">
            <a:avLst/>
          </a:prstGeom>
          <a:solidFill>
            <a:srgbClr val="FF3D3D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91840" y="4754880"/>
            <a:ext cx="5120640" cy="5120640"/>
          </a:xfrm>
          <a:prstGeom prst="ellipse">
            <a:avLst/>
          </a:prstGeom>
          <a:solidFill>
            <a:srgbClr val="FF3D3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2011680" cy="256032"/>
          </a:xfrm>
          <a:prstGeom prst="roundRect">
            <a:avLst>
              <a:gd name="adj" fmla="val 20000"/>
            </a:avLst>
          </a:prstGeom>
          <a:solidFill>
            <a:srgbClr val="3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3D3D"/>
                </a:solidFill>
                <a:latin typeface="Segoe UI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Enterprise migrations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3D3D"/>
                </a:solidFill>
                <a:latin typeface="Segoe UI"/>
              </a:rPr>
              <a:t>slow, risky, and ungoverned.</a:t>
            </a:r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FF3D3D"/>
              </a:gs>
              <a:gs pos="100000">
                <a:srgbClr val="00FFD4"/>
              </a:gs>
            </a:gsLst>
            <a:lin ang="0" scaled="0"/>
          </a:gradFill>
          <a:xfrm>
            <a:off x="502920" y="2167128"/>
            <a:ext cx="5029200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441448"/>
            <a:ext cx="31750" cy="438912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41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3D3D"/>
                </a:solidFill>
                <a:latin typeface="Segoe UI"/>
              </a:rPr>
              <a:t>TODAY'S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34640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FF3D3D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D18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84378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Write column-mapping scripts manually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081528"/>
            <a:ext cx="39319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AA8"/>
                </a:solidFill>
                <a:latin typeface="Segoe UI"/>
              </a:rPr>
              <a:t>Days of engineer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56432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FF3D3D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5643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D18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465576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Generate validation SQL per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703320"/>
            <a:ext cx="39319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AA8"/>
                </a:solidFill>
                <a:latin typeface="Segoe UI"/>
              </a:rPr>
              <a:t>4–8 queries per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078224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FF3D3D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7822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D18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08736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Run validation queries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325112"/>
            <a:ext cx="39319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AA8"/>
                </a:solidFill>
                <a:latin typeface="Segoe UI"/>
              </a:rPr>
              <a:t>Manual execution per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700016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FF3D3D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0001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D18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70916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Review mismatches in spreadsheets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4946904"/>
            <a:ext cx="39319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AA8"/>
                </a:solidFill>
                <a:latin typeface="Segoe UI"/>
              </a:rPr>
              <a:t>No confidence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321808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FF3D3D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32180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D18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533095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Escalate ambiguous cases to architects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8" y="5568696"/>
            <a:ext cx="39319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AA8"/>
                </a:solidFill>
                <a:latin typeface="Segoe UI"/>
              </a:rPr>
              <a:t>Bottlenecks every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943600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FF3D3D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9436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D18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" y="595274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No audit trail for 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6190488"/>
            <a:ext cx="39319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AA8"/>
                </a:solidFill>
                <a:latin typeface="Segoe UI"/>
              </a:rPr>
              <a:t>Compliance exposure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4414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8AA8"/>
                </a:solidFill>
                <a:latin typeface="Segoe UI"/>
              </a:rPr>
              <a:t>THE COST AT SCALE</a:t>
            </a:r>
          </a:p>
        </p:txBody>
      </p:sp>
      <p:sp>
        <p:nvSpPr>
          <p:cNvPr id="37" name="Rectangle 36"/>
          <p:cNvSpPr/>
          <p:nvPr/>
        </p:nvSpPr>
        <p:spPr>
          <a:gradFill>
            <a:gsLst>
              <a:gs pos="0">
                <a:srgbClr val="182538"/>
              </a:gs>
              <a:gs pos="100000">
                <a:srgbClr val="162A40"/>
              </a:gs>
            </a:gsLst>
            <a:lin ang="8100000" scaled="0"/>
          </a:gradFill>
          <a:xfrm>
            <a:off x="6035040" y="2834640"/>
            <a:ext cx="5742432" cy="82296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2962656"/>
            <a:ext cx="41148" cy="566928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2" y="29260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3D3D"/>
                </a:solidFill>
                <a:latin typeface="Segoe UI"/>
              </a:rPr>
              <a:t>100–1000+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30815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5EE"/>
                </a:solidFill>
                <a:latin typeface="Segoe UI"/>
              </a:rPr>
              <a:t>Tables per migration project</a:t>
            </a:r>
          </a:p>
        </p:txBody>
      </p:sp>
      <p:sp>
        <p:nvSpPr>
          <p:cNvPr id="41" name="Rectangle 40"/>
          <p:cNvSpPr/>
          <p:nvPr/>
        </p:nvSpPr>
        <p:spPr>
          <a:gradFill>
            <a:gsLst>
              <a:gs pos="0">
                <a:srgbClr val="182538"/>
              </a:gs>
              <a:gs pos="100000">
                <a:srgbClr val="162A40"/>
              </a:gs>
            </a:gsLst>
            <a:lin ang="8100000" scaled="0"/>
          </a:gradFill>
          <a:xfrm>
            <a:off x="6035040" y="3749040"/>
            <a:ext cx="5742432" cy="82296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0" y="3877056"/>
            <a:ext cx="41148" cy="5669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38404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8C00"/>
                </a:solidFill>
                <a:latin typeface="Segoe UI"/>
              </a:rPr>
              <a:t>4–8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39959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5EE"/>
                </a:solidFill>
                <a:latin typeface="Segoe UI"/>
              </a:rPr>
              <a:t>Manual SQL queries per table per layer</a:t>
            </a:r>
          </a:p>
        </p:txBody>
      </p:sp>
      <p:sp>
        <p:nvSpPr>
          <p:cNvPr id="45" name="Rectangle 44"/>
          <p:cNvSpPr/>
          <p:nvPr/>
        </p:nvSpPr>
        <p:spPr>
          <a:gradFill>
            <a:gsLst>
              <a:gs pos="0">
                <a:srgbClr val="182538"/>
              </a:gs>
              <a:gs pos="100000">
                <a:srgbClr val="162A40"/>
              </a:gs>
            </a:gsLst>
            <a:lin ang="8100000" scaled="0"/>
          </a:gradFill>
          <a:xfrm>
            <a:off x="6035040" y="4663440"/>
            <a:ext cx="5742432" cy="82296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35040" y="4791456"/>
            <a:ext cx="41148" cy="566928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9632" y="4754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3D3D"/>
                </a:solidFill>
                <a:latin typeface="Segoe UI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49103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5EE"/>
                </a:solidFill>
                <a:latin typeface="Segoe UI"/>
              </a:rPr>
              <a:t>Governed approval trail — none today</a:t>
            </a:r>
          </a:p>
        </p:txBody>
      </p:sp>
      <p:sp>
        <p:nvSpPr>
          <p:cNvPr id="49" name="Rectangle 48"/>
          <p:cNvSpPr/>
          <p:nvPr/>
        </p:nvSpPr>
        <p:spPr>
          <a:gradFill>
            <a:gsLst>
              <a:gs pos="0">
                <a:srgbClr val="182538"/>
              </a:gs>
              <a:gs pos="100000">
                <a:srgbClr val="162A40"/>
              </a:gs>
            </a:gsLst>
            <a:lin ang="8100000" scaled="0"/>
          </a:gradFill>
          <a:xfrm>
            <a:off x="6035040" y="5577840"/>
            <a:ext cx="5742432" cy="82296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35040" y="5705856"/>
            <a:ext cx="41148" cy="5669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9632" y="5669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8C00"/>
                </a:solidFill>
                <a:latin typeface="Segoe UI"/>
              </a:rPr>
              <a:t>60–80%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58247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5EE"/>
                </a:solidFill>
                <a:latin typeface="Segoe UI"/>
              </a:rPr>
              <a:t>Engineer time on mechanics, not design</a:t>
            </a:r>
          </a:p>
        </p:txBody>
      </p:sp>
      <p:sp>
        <p:nvSpPr>
          <p:cNvPr id="53" name="Rectangle 52"/>
          <p:cNvSpPr/>
          <p:nvPr/>
        </p:nvSpPr>
        <p:spPr>
          <a:gradFill>
            <a:gsLst>
              <a:gs pos="0">
                <a:srgbClr val="182538"/>
              </a:gs>
              <a:gs pos="100000">
                <a:srgbClr val="162A40"/>
              </a:gs>
            </a:gsLst>
            <a:lin ang="8100000" scaled="0"/>
          </a:gradFill>
          <a:xfrm>
            <a:off x="6035040" y="6492240"/>
            <a:ext cx="5742432" cy="82296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35040" y="6620256"/>
            <a:ext cx="41148" cy="566928"/>
          </a:xfrm>
          <a:prstGeom prst="rect">
            <a:avLst/>
          </a:prstGeom>
          <a:solidFill>
            <a:srgbClr val="6B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99632" y="6583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B8AA8"/>
                </a:solidFill>
                <a:latin typeface="Segoe UI"/>
              </a:rPr>
              <a:t>Weeks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67391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5EE"/>
                </a:solidFill>
                <a:latin typeface="Segoe UI"/>
              </a:rPr>
              <a:t>Validation time — should be hours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AA8"/>
                </a:solidFill>
                <a:latin typeface="Segoe UI"/>
              </a:rPr>
              <a:t>EPAM Hackathon 2026  ·  Stream 3: Connectors for Gemini Applications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03152" y="65562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8AA8"/>
                </a:solidFill>
                <a:latin typeface="Segoe U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8"/>
              </a:gs>
              <a:gs pos="100000">
                <a:srgbClr val="0D1B2C"/>
              </a:gs>
            </a:gsLst>
            <a:lin ang="81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5752" y="-4114800"/>
            <a:ext cx="6400800" cy="6400800"/>
          </a:xfrm>
          <a:prstGeom prst="ellipse">
            <a:avLst/>
          </a:prstGeom>
          <a:solidFill>
            <a:srgbClr val="00B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91840" y="4754880"/>
            <a:ext cx="5120640" cy="5120640"/>
          </a:xfrm>
          <a:prstGeom prst="ellipse">
            <a:avLst/>
          </a:prstGeom>
          <a:solidFill>
            <a:srgbClr val="00B4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2011680" cy="256032"/>
          </a:xfrm>
          <a:prstGeom prst="roundRect">
            <a:avLst>
              <a:gd name="adj" fmla="val 20000"/>
            </a:avLst>
          </a:prstGeom>
          <a:solidFill>
            <a:srgbClr val="14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Segoe UI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Why Gemini changes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B4FF"/>
                </a:solidFill>
                <a:latin typeface="Segoe UI"/>
              </a:rPr>
              <a:t>Natural language + governed tools.</a:t>
            </a:r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00B4FF"/>
              </a:gs>
              <a:gs pos="100000">
                <a:srgbClr val="00FFD4"/>
              </a:gs>
            </a:gsLst>
            <a:lin ang="0" scaled="0"/>
          </a:gradFill>
          <a:xfrm>
            <a:off x="502920" y="2167128"/>
            <a:ext cx="5029200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468880"/>
            <a:ext cx="3383280" cy="438912"/>
          </a:xfrm>
          <a:prstGeom prst="roundRect">
            <a:avLst>
              <a:gd name="adj" fmla="val 6000"/>
            </a:avLst>
          </a:prstGeom>
          <a:solidFill>
            <a:srgbClr val="1E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6888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468880"/>
            <a:ext cx="3931920" cy="438912"/>
          </a:xfrm>
          <a:prstGeom prst="roundRect">
            <a:avLst>
              <a:gd name="adj" fmla="val 6000"/>
            </a:avLst>
          </a:prstGeom>
          <a:solidFill>
            <a:srgbClr val="1E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468880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TRADITIONAL</a:t>
            </a:r>
          </a:p>
        </p:txBody>
      </p:sp>
      <p:sp>
        <p:nvSpPr>
          <p:cNvPr id="14" name="Rectangle 13"/>
          <p:cNvSpPr/>
          <p:nvPr/>
        </p:nvSpPr>
        <p:spPr>
          <a:gradFill>
            <a:gsLst>
              <a:gs pos="0">
                <a:srgbClr val="00B4FF"/>
              </a:gs>
              <a:gs pos="100000">
                <a:srgbClr val="0078B4"/>
              </a:gs>
            </a:gsLst>
            <a:lin ang="0" scaled="0"/>
          </a:gradFill>
          <a:xfrm>
            <a:off x="7863840" y="2468880"/>
            <a:ext cx="4251960" cy="438912"/>
          </a:xfrm>
          <a:prstGeom prst="roundRect">
            <a:avLst>
              <a:gd name="adj" fmla="val 6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468880"/>
            <a:ext cx="4251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60D18"/>
                </a:solidFill>
                <a:latin typeface="Segoe UI"/>
              </a:rPr>
              <a:t>GEMINI-CONNECTED 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907792"/>
            <a:ext cx="3383280" cy="530352"/>
          </a:xfrm>
          <a:prstGeom prst="rect">
            <a:avLst/>
          </a:prstGeom>
          <a:solidFill>
            <a:srgbClr val="11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35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Querying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2907792"/>
            <a:ext cx="3931920" cy="530352"/>
          </a:xfrm>
          <a:prstGeom prst="rect">
            <a:avLst/>
          </a:prstGeom>
          <a:solidFill>
            <a:srgbClr val="11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3035808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8AA8"/>
                </a:solidFill>
                <a:latin typeface="Segoe UI"/>
              </a:rPr>
              <a:t>Run scripts manually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2907792"/>
            <a:ext cx="4251960" cy="530352"/>
          </a:xfrm>
          <a:prstGeom prst="rect">
            <a:avLst/>
          </a:prstGeom>
          <a:solidFill>
            <a:srgbClr val="09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3035808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FFD4"/>
                </a:solidFill>
                <a:latin typeface="Segoe UI"/>
              </a:rPr>
              <a:t>✓  Ask in natural language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438144"/>
            <a:ext cx="3383280" cy="53035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Interpreting results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438144"/>
            <a:ext cx="3931920" cy="53035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35661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8AA8"/>
                </a:solidFill>
                <a:latin typeface="Segoe UI"/>
              </a:rPr>
              <a:t>Read raw SQL 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438144"/>
            <a:ext cx="4251960" cy="530352"/>
          </a:xfrm>
          <a:prstGeom prst="rect">
            <a:avLst/>
          </a:prstGeom>
          <a:solidFill>
            <a:srgbClr val="09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3566160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FFD4"/>
                </a:solidFill>
                <a:latin typeface="Segoe UI"/>
              </a:rPr>
              <a:t>✓  Get an explanation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968496"/>
            <a:ext cx="3383280" cy="530352"/>
          </a:xfrm>
          <a:prstGeom prst="rect">
            <a:avLst/>
          </a:prstGeom>
          <a:solidFill>
            <a:srgbClr val="11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Ambiguous mappings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3968496"/>
            <a:ext cx="3931920" cy="530352"/>
          </a:xfrm>
          <a:prstGeom prst="rect">
            <a:avLst/>
          </a:prstGeom>
          <a:solidFill>
            <a:srgbClr val="11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4096512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8AA8"/>
                </a:solidFill>
                <a:latin typeface="Segoe UI"/>
              </a:rPr>
              <a:t>Engineer resolves (hours)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3968496"/>
            <a:ext cx="4251960" cy="530352"/>
          </a:xfrm>
          <a:prstGeom prst="rect">
            <a:avLst/>
          </a:prstGeom>
          <a:solidFill>
            <a:srgbClr val="09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4096512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FFD4"/>
                </a:solidFill>
                <a:latin typeface="Segoe UI"/>
              </a:rPr>
              <a:t>✓  AI proposes → human approves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498848"/>
            <a:ext cx="3383280" cy="53035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6268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Root-cause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4498848"/>
            <a:ext cx="3931920" cy="53035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4626864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8AA8"/>
                </a:solidFill>
                <a:latin typeface="Segoe UI"/>
              </a:rPr>
              <a:t>Ad-hoc SQL debugging (hours)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4498848"/>
            <a:ext cx="4251960" cy="530352"/>
          </a:xfrm>
          <a:prstGeom prst="rect">
            <a:avLst/>
          </a:prstGeom>
          <a:solidFill>
            <a:srgbClr val="09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0" y="4626864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FFD4"/>
                </a:solidFill>
                <a:latin typeface="Segoe UI"/>
              </a:rPr>
              <a:t>✓  Conversational (seconds)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029200"/>
            <a:ext cx="3383280" cy="530352"/>
          </a:xfrm>
          <a:prstGeom prst="rect">
            <a:avLst/>
          </a:prstGeom>
          <a:solidFill>
            <a:srgbClr val="11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1572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Governance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5029200"/>
            <a:ext cx="3931920" cy="530352"/>
          </a:xfrm>
          <a:prstGeom prst="rect">
            <a:avLst/>
          </a:prstGeom>
          <a:solidFill>
            <a:srgbClr val="11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0" y="5157216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8AA8"/>
                </a:solidFill>
                <a:latin typeface="Segoe UI"/>
              </a:rPr>
              <a:t>None — no trail, no versions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5029200"/>
            <a:ext cx="4251960" cy="530352"/>
          </a:xfrm>
          <a:prstGeom prst="rect">
            <a:avLst/>
          </a:prstGeom>
          <a:solidFill>
            <a:srgbClr val="09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0" y="5157216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FFD4"/>
                </a:solidFill>
                <a:latin typeface="Segoe UI"/>
              </a:rPr>
              <a:t>✓  RBAC + OCC + audit trail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559552"/>
            <a:ext cx="3383280" cy="53035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687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Multi-source view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5559552"/>
            <a:ext cx="3931920" cy="53035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0" y="5687568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8AA8"/>
                </a:solidFill>
                <a:latin typeface="Segoe UI"/>
              </a:rPr>
              <a:t>Separate scripts per system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5559552"/>
            <a:ext cx="4251960" cy="530352"/>
          </a:xfrm>
          <a:prstGeom prst="rect">
            <a:avLst/>
          </a:prstGeom>
          <a:solidFill>
            <a:srgbClr val="09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0" y="5687568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FFD4"/>
                </a:solidFill>
                <a:latin typeface="Segoe UI"/>
              </a:rPr>
              <a:t>✓  Single federated question</a:t>
            </a:r>
          </a:p>
        </p:txBody>
      </p:sp>
      <p:sp>
        <p:nvSpPr>
          <p:cNvPr id="52" name="Rectangle 51"/>
          <p:cNvSpPr/>
          <p:nvPr/>
        </p:nvSpPr>
        <p:spPr>
          <a:gradFill>
            <a:gsLst>
              <a:gs pos="0">
                <a:srgbClr val="002A44"/>
              </a:gs>
              <a:gs pos="100000">
                <a:srgbClr val="001428"/>
              </a:gs>
            </a:gsLst>
            <a:lin ang="8100000" scaled="0"/>
          </a:gradFill>
          <a:xfrm>
            <a:off x="411480" y="6272784"/>
            <a:ext cx="11338560" cy="658368"/>
          </a:xfrm>
          <a:prstGeom prst="roundRect">
            <a:avLst>
              <a:gd name="adj" fmla="val 8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6272784"/>
            <a:ext cx="64008" cy="65836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63642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FF"/>
                </a:solidFill>
                <a:latin typeface="Segoe UI"/>
              </a:rPr>
              <a:t>KEY INSIGHT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03120" y="6437376"/>
            <a:ext cx="9464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Segoe UI"/>
              </a:rPr>
              <a:t>Gemini drives 24 governed tools here — each permission-checked, version-controlled, and audit-logged. Not a chatbot.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AA8"/>
                </a:solidFill>
                <a:latin typeface="Segoe UI"/>
              </a:rPr>
              <a:t>EPAM Hackathon 2026  ·  Stream 3: Connectors for Gemini Applications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503152" y="65562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8AA8"/>
                </a:solidFill>
                <a:latin typeface="Segoe U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8"/>
              </a:gs>
              <a:gs pos="100000">
                <a:srgbClr val="0C1C2C"/>
              </a:gs>
            </a:gsLst>
            <a:lin ang="78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5752" y="-4114800"/>
            <a:ext cx="6400800" cy="6400800"/>
          </a:xfrm>
          <a:prstGeom prst="ellipse">
            <a:avLst/>
          </a:prstGeom>
          <a:solidFill>
            <a:srgbClr val="00FFD4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91840" y="4754880"/>
            <a:ext cx="5120640" cy="5120640"/>
          </a:xfrm>
          <a:prstGeom prst="ellipse">
            <a:avLst/>
          </a:prstGeom>
          <a:solidFill>
            <a:srgbClr val="00FFD4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2011680" cy="256032"/>
          </a:xfrm>
          <a:prstGeom prst="roundRect">
            <a:avLst>
              <a:gd name="adj" fmla="val 20000"/>
            </a:avLst>
          </a:prstGeom>
          <a:solidFill>
            <a:srgbClr val="14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FFD4"/>
                </a:solidFill>
                <a:latin typeface="Segoe U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Three-tier governed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D4"/>
                </a:solidFill>
                <a:latin typeface="Segoe UI"/>
              </a:rPr>
              <a:t>Gemini  →  Connector  →  Engine  →  Databases</a:t>
            </a:r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00FFD4"/>
              </a:gs>
              <a:gs pos="100000">
                <a:srgbClr val="00B4FF"/>
              </a:gs>
            </a:gsLst>
            <a:lin ang="0" scaled="0"/>
          </a:gradFill>
          <a:xfrm>
            <a:off x="502920" y="1828800"/>
            <a:ext cx="502920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993392"/>
            <a:ext cx="7132320" cy="1024128"/>
          </a:xfrm>
          <a:prstGeom prst="roundRect">
            <a:avLst>
              <a:gd name="adj" fmla="val 9000"/>
            </a:avLst>
          </a:prstGeom>
          <a:solidFill>
            <a:srgbClr val="001A36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993392"/>
            <a:ext cx="1051560" cy="1024128"/>
          </a:xfrm>
          <a:prstGeom prst="roundRect">
            <a:avLst>
              <a:gd name="adj" fmla="val 9000"/>
            </a:avLst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93392"/>
            <a:ext cx="10515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0D18"/>
                </a:solidFill>
                <a:latin typeface="Segoe UI"/>
              </a:rPr>
              <a:t>TIER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2084832"/>
            <a:ext cx="5760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542032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AA8"/>
                </a:solidFill>
                <a:latin typeface="Segoe UI"/>
              </a:rPr>
              <a:t>Natural language · Function calling · 10-round tool loop · Offline fallback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77639" y="3017520"/>
            <a:ext cx="0" cy="228600"/>
          </a:xfrm>
          <a:prstGeom prst="line">
            <a:avLst/>
          </a:prstGeom>
          <a:ln w="254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58767" y="318211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FF"/>
                </a:solidFill>
                <a:latin typeface="Segoe UI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273552"/>
            <a:ext cx="7132320" cy="1024128"/>
          </a:xfrm>
          <a:prstGeom prst="roundRect">
            <a:avLst>
              <a:gd name="adj" fmla="val 9000"/>
            </a:avLst>
          </a:prstGeom>
          <a:solidFill>
            <a:srgbClr val="001826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273552"/>
            <a:ext cx="1051560" cy="1024128"/>
          </a:xfrm>
          <a:prstGeom prst="roundRect">
            <a:avLst>
              <a:gd name="adj" fmla="val 9000"/>
            </a:avLst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273552"/>
            <a:ext cx="10515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0D18"/>
                </a:solidFill>
                <a:latin typeface="Segoe UI"/>
              </a:rPr>
              <a:t>TIER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9344" y="3364992"/>
            <a:ext cx="5760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Migration Intelligence Connector  (FastAPI · Port 8001)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9344" y="3822192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AA8"/>
                </a:solidFill>
                <a:latin typeface="Segoe UI"/>
              </a:rPr>
              <a:t>Auth · RBAC (5 roles / 15 perms) · 24 Tools · OCC · Audit · Metrics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77639" y="4297680"/>
            <a:ext cx="0" cy="228600"/>
          </a:xfrm>
          <a:prstGeom prst="line">
            <a:avLst/>
          </a:prstGeom>
          <a:ln w="25400">
            <a:solidFill>
              <a:srgbClr val="00F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58767" y="446227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FD4"/>
                </a:solidFill>
                <a:latin typeface="Segoe UI"/>
              </a:rPr>
              <a:t>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553712"/>
            <a:ext cx="7132320" cy="1024128"/>
          </a:xfrm>
          <a:prstGeom prst="roundRect">
            <a:avLst>
              <a:gd name="adj" fmla="val 9000"/>
            </a:avLst>
          </a:prstGeom>
          <a:solidFill>
            <a:srgbClr val="001614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553712"/>
            <a:ext cx="1051560" cy="1024128"/>
          </a:xfrm>
          <a:prstGeom prst="roundRect">
            <a:avLst>
              <a:gd name="adj" fmla="val 9000"/>
            </a:avLst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53712"/>
            <a:ext cx="10515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0D18"/>
                </a:solidFill>
                <a:latin typeface="Segoe UI"/>
              </a:rPr>
              <a:t>TIER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4645152"/>
            <a:ext cx="5760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Validation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5102352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AA8"/>
                </a:solidFill>
                <a:latin typeface="Segoe UI"/>
              </a:rPr>
              <a:t>CanonicalValidationPlan · SQL Generation · YAML Config · RuleBook</a:t>
            </a:r>
          </a:p>
        </p:txBody>
      </p:sp>
      <p:sp>
        <p:nvSpPr>
          <p:cNvPr id="29" name="Rectangle 28"/>
          <p:cNvSpPr/>
          <p:nvPr/>
        </p:nvSpPr>
        <p:spPr>
          <a:gradFill>
            <a:gsLst>
              <a:gs pos="0">
                <a:srgbClr val="122030"/>
              </a:gs>
              <a:gs pos="100000">
                <a:srgbClr val="0D1B2A"/>
              </a:gs>
            </a:gsLst>
            <a:lin ang="8100000" scaled="0"/>
          </a:gradFill>
          <a:xfrm>
            <a:off x="411480" y="6016752"/>
            <a:ext cx="7132320" cy="877824"/>
          </a:xfrm>
          <a:prstGeom prst="roundRect">
            <a:avLst>
              <a:gd name="adj" fmla="val 9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6071616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524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071616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FF"/>
                </a:solidFill>
                <a:latin typeface="Segoe UI"/>
              </a:rPr>
              <a:t>PostgreSQL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6584" y="6071616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5240">
            <a:solidFill>
              <a:srgbClr val="00F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6584" y="6071616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D4"/>
                </a:solidFill>
                <a:latin typeface="Segoe UI"/>
              </a:rPr>
              <a:t>MSSQL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78808" y="6071616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78808" y="6071616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C00"/>
                </a:solidFill>
                <a:latin typeface="Segoe UI"/>
              </a:rPr>
              <a:t>AWS Athena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71032" y="6071616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71032" y="6071616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576"/>
                </a:solidFill>
                <a:latin typeface="Segoe UI"/>
              </a:rPr>
              <a:t>Snowflake</a:t>
            </a:r>
          </a:p>
        </p:txBody>
      </p:sp>
      <p:sp>
        <p:nvSpPr>
          <p:cNvPr id="38" name="Rectangle 37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8700000" scaled="0"/>
          </a:gradFill>
          <a:xfrm>
            <a:off x="7818120" y="1993392"/>
            <a:ext cx="4160520" cy="960120"/>
          </a:xfrm>
          <a:prstGeom prst="roundRect">
            <a:avLst>
              <a:gd name="adj" fmla="val 9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18120" y="2103120"/>
            <a:ext cx="45720" cy="7315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208483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FF"/>
                </a:solidFill>
                <a:latin typeface="Segoe UI"/>
              </a:rPr>
              <a:t>24 TOOLS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246888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5EE"/>
                </a:solidFill>
                <a:latin typeface="Segoe UI"/>
              </a:rPr>
              <a:t>Discovery · Mapping · Rules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2724912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5EE"/>
                </a:solidFill>
                <a:latin typeface="Segoe UI"/>
              </a:rPr>
              <a:t>Plans · Execution · Write-back</a:t>
            </a:r>
          </a:p>
        </p:txBody>
      </p:sp>
      <p:sp>
        <p:nvSpPr>
          <p:cNvPr id="43" name="Rectangle 42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8700000" scaled="0"/>
          </a:gradFill>
          <a:xfrm>
            <a:off x="7818120" y="3090672"/>
            <a:ext cx="4160520" cy="960120"/>
          </a:xfrm>
          <a:prstGeom prst="roundRect">
            <a:avLst>
              <a:gd name="adj" fmla="val 9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18120" y="3200400"/>
            <a:ext cx="45720" cy="731520"/>
          </a:xfrm>
          <a:prstGeom prst="rect">
            <a:avLst/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0" y="318211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D4"/>
                </a:solidFill>
                <a:latin typeface="Segoe UI"/>
              </a:rPr>
              <a:t>5 ROLES · 15 PERMS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356616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5EE"/>
                </a:solidFill>
                <a:latin typeface="Segoe UI"/>
              </a:rPr>
              <a:t>VIEWER  REVIEWER  RULE_ADMIN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3822192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5EE"/>
                </a:solidFill>
                <a:latin typeface="Segoe UI"/>
              </a:rPr>
              <a:t>VALIDATION_OPERATOR  ADMIN</a:t>
            </a:r>
          </a:p>
        </p:txBody>
      </p:sp>
      <p:sp>
        <p:nvSpPr>
          <p:cNvPr id="48" name="Rectangle 47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8700000" scaled="0"/>
          </a:gradFill>
          <a:xfrm>
            <a:off x="7818120" y="4187952"/>
            <a:ext cx="4160520" cy="960120"/>
          </a:xfrm>
          <a:prstGeom prst="roundRect">
            <a:avLst>
              <a:gd name="adj" fmla="val 9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18120" y="4297680"/>
            <a:ext cx="45720" cy="73152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01000" y="427939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  <a:latin typeface="Segoe UI"/>
              </a:rPr>
              <a:t>OCC VERSION CONTROL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466344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5EE"/>
                </a:solidFill>
                <a:latin typeface="Segoe UI"/>
              </a:rPr>
              <a:t>check_and_bump() prevents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4919472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5EE"/>
                </a:solidFill>
                <a:latin typeface="Segoe UI"/>
              </a:rPr>
              <a:t>concurrent write conflicts (HTTP 409)</a:t>
            </a:r>
          </a:p>
        </p:txBody>
      </p:sp>
      <p:sp>
        <p:nvSpPr>
          <p:cNvPr id="53" name="Rectangle 52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8700000" scaled="0"/>
          </a:gradFill>
          <a:xfrm>
            <a:off x="7818120" y="5285232"/>
            <a:ext cx="4160520" cy="960120"/>
          </a:xfrm>
          <a:prstGeom prst="roundRect">
            <a:avLst>
              <a:gd name="adj" fmla="val 9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818120" y="5394960"/>
            <a:ext cx="45720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1000" y="53766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APPEND-ONLY AUDIT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576072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5EE"/>
                </a:solidFill>
                <a:latin typeface="Segoe UI"/>
              </a:rPr>
              <a:t>actor · timestamp · reason · version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6016752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5EE"/>
                </a:solidFill>
                <a:latin typeface="Segoe UI"/>
              </a:rPr>
              <a:t>→ output/audit_log.jsonl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AA8"/>
                </a:solidFill>
                <a:latin typeface="Segoe UI"/>
              </a:rPr>
              <a:t>EPAM Hackathon 2026  ·  Stream 3: Connectors for Gemini Applications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03152" y="65562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8AA8"/>
                </a:solidFill>
                <a:latin typeface="Segoe U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C14"/>
              </a:gs>
              <a:gs pos="100000">
                <a:srgbClr val="0A1824"/>
              </a:gs>
            </a:gsLst>
            <a:lin ang="78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5752" y="-4114800"/>
            <a:ext cx="6400800" cy="6400800"/>
          </a:xfrm>
          <a:prstGeom prst="ellipse">
            <a:avLst/>
          </a:prstGeom>
          <a:solidFill>
            <a:srgbClr val="00E57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91840" y="4754880"/>
            <a:ext cx="5120640" cy="5120640"/>
          </a:xfrm>
          <a:prstGeom prst="ellipse">
            <a:avLst/>
          </a:prstGeom>
          <a:solidFill>
            <a:srgbClr val="00E57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2011680" cy="256032"/>
          </a:xfrm>
          <a:prstGeom prst="roundRect">
            <a:avLst>
              <a:gd name="adj" fmla="val 20000"/>
            </a:avLst>
          </a:prstGeom>
          <a:solidFill>
            <a:srgbClr val="14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6"/>
                </a:solidFill>
                <a:latin typeface="Segoe UI"/>
              </a:rPr>
              <a:t>LIVE 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From natural language to validated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E576"/>
                </a:solidFill>
                <a:latin typeface="Segoe UI"/>
              </a:rPr>
              <a:t>events table  ·  PostgreSQL (fms) → Snowflake Bronze</a:t>
            </a:r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00E576"/>
              </a:gs>
              <a:gs pos="100000">
                <a:srgbClr val="00FFD4"/>
              </a:gs>
            </a:gsLst>
            <a:lin ang="0" scaled="0"/>
          </a:gradFill>
          <a:xfrm>
            <a:off x="502920" y="1737360"/>
            <a:ext cx="5029200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1261872" cy="301752"/>
          </a:xfrm>
          <a:prstGeom prst="roundRect">
            <a:avLst>
              <a:gd name="adj" fmla="val 6000"/>
            </a:avLst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74519"/>
            <a:ext cx="1261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B8AA8"/>
                </a:solidFill>
                <a:latin typeface="Segoe UI"/>
              </a:rPr>
              <a:t>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9072" y="1874519"/>
            <a:ext cx="10058400" cy="301752"/>
          </a:xfrm>
          <a:prstGeom prst="roundRect">
            <a:avLst>
              <a:gd name="adj" fmla="val 6000"/>
            </a:avLst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874519"/>
            <a:ext cx="9829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FFD4"/>
                </a:solidFill>
                <a:latin typeface="Segoe UI"/>
              </a:rPr>
              <a:t>"Validate the events migration."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212847"/>
            <a:ext cx="1261872" cy="301752"/>
          </a:xfrm>
          <a:prstGeom prst="roundRect">
            <a:avLst>
              <a:gd name="adj" fmla="val 6000"/>
            </a:avLst>
          </a:prstGeom>
          <a:solidFill>
            <a:srgbClr val="0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212847"/>
            <a:ext cx="1261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B4FF"/>
                </a:solidFill>
                <a:latin typeface="Segoe UI"/>
              </a:rPr>
              <a:t>TOOL 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19072" y="2212847"/>
            <a:ext cx="10058400" cy="301752"/>
          </a:xfrm>
          <a:prstGeom prst="roundRect">
            <a:avLst>
              <a:gd name="adj" fmla="val 6000"/>
            </a:avLst>
          </a:prstGeom>
          <a:solidFill>
            <a:srgbClr val="00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2212847"/>
            <a:ext cx="9829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FF"/>
                </a:solidFill>
                <a:latin typeface="Segoe UI"/>
              </a:rPr>
              <a:t>→ discover_connections()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551175"/>
            <a:ext cx="1261872" cy="301752"/>
          </a:xfrm>
          <a:prstGeom prst="roundRect">
            <a:avLst>
              <a:gd name="adj" fmla="val 6000"/>
            </a:avLst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551175"/>
            <a:ext cx="1261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B8AA8"/>
                </a:solidFill>
                <a:latin typeface="Segoe UI"/>
              </a:rPr>
              <a:t>RESULT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9072" y="2551175"/>
            <a:ext cx="10058400" cy="301752"/>
          </a:xfrm>
          <a:prstGeom prst="roundRect">
            <a:avLst>
              <a:gd name="adj" fmla="val 6000"/>
            </a:avLst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2551175"/>
            <a:ext cx="9829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AA8"/>
                </a:solidFill>
                <a:latin typeface="Segoe UI"/>
              </a:rPr>
              <a:t>PostgreSQL (fms)  →  Snowflake (dev_edge_bronze)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889503"/>
            <a:ext cx="1261872" cy="301752"/>
          </a:xfrm>
          <a:prstGeom prst="roundRect">
            <a:avLst>
              <a:gd name="adj" fmla="val 6000"/>
            </a:avLst>
          </a:prstGeom>
          <a:solidFill>
            <a:srgbClr val="0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889503"/>
            <a:ext cx="1261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B4FF"/>
                </a:solidFill>
                <a:latin typeface="Segoe UI"/>
              </a:rPr>
              <a:t>TOOL CALL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19072" y="2889503"/>
            <a:ext cx="10058400" cy="301752"/>
          </a:xfrm>
          <a:prstGeom prst="roundRect">
            <a:avLst>
              <a:gd name="adj" fmla="val 6000"/>
            </a:avLst>
          </a:prstGeom>
          <a:solidFill>
            <a:srgbClr val="00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2889503"/>
            <a:ext cx="9829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FF"/>
                </a:solidFill>
                <a:latin typeface="Segoe UI"/>
              </a:rPr>
              <a:t>→ generate_validation_plan(table='events', layer='bronze')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227831"/>
            <a:ext cx="1261872" cy="301752"/>
          </a:xfrm>
          <a:prstGeom prst="roundRect">
            <a:avLst>
              <a:gd name="adj" fmla="val 6000"/>
            </a:avLst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227831"/>
            <a:ext cx="1261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B8AA8"/>
                </a:solidFill>
                <a:latin typeface="Segoe UI"/>
              </a:rPr>
              <a:t>RESULT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19072" y="3227831"/>
            <a:ext cx="10058400" cy="301752"/>
          </a:xfrm>
          <a:prstGeom prst="roundRect">
            <a:avLst>
              <a:gd name="adj" fmla="val 6000"/>
            </a:avLst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3227831"/>
            <a:ext cx="9829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AA8"/>
                </a:solidFill>
                <a:latin typeface="Segoe UI"/>
              </a:rPr>
              <a:t>38 columns mapped  ·  4 Fivetran cols excluded  ·  1 needs review (82%)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566159"/>
            <a:ext cx="1261872" cy="301752"/>
          </a:xfrm>
          <a:prstGeom prst="roundRect">
            <a:avLst>
              <a:gd name="adj" fmla="val 6000"/>
            </a:avLst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566159"/>
            <a:ext cx="1261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B8AA8"/>
                </a:solidFill>
                <a:latin typeface="Segoe UI"/>
              </a:rPr>
              <a:t>GEMINI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19072" y="3566159"/>
            <a:ext cx="10058400" cy="301752"/>
          </a:xfrm>
          <a:prstGeom prst="roundRect">
            <a:avLst>
              <a:gd name="adj" fmla="val 6000"/>
            </a:avLst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3566159"/>
            <a:ext cx="9829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E576"/>
                </a:solidFill>
                <a:latin typeface="Segoe UI"/>
              </a:rPr>
              <a:t>"1 mapping needs review: created_ts → CREATED_AT  (82% confidence)"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904487"/>
            <a:ext cx="1261872" cy="301752"/>
          </a:xfrm>
          <a:prstGeom prst="roundRect">
            <a:avLst>
              <a:gd name="adj" fmla="val 6000"/>
            </a:avLst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904487"/>
            <a:ext cx="1261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B8AA8"/>
                </a:solidFill>
                <a:latin typeface="Segoe UI"/>
              </a:rPr>
              <a:t>USER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19072" y="3904487"/>
            <a:ext cx="10058400" cy="301752"/>
          </a:xfrm>
          <a:prstGeom prst="roundRect">
            <a:avLst>
              <a:gd name="adj" fmla="val 6000"/>
            </a:avLst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0" y="3904487"/>
            <a:ext cx="9829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FFD4"/>
                </a:solidFill>
                <a:latin typeface="Segoe UI"/>
              </a:rPr>
              <a:t>"I've confirmed it in the DDL. Approve it."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242815"/>
            <a:ext cx="1261872" cy="301752"/>
          </a:xfrm>
          <a:prstGeom prst="roundRect">
            <a:avLst>
              <a:gd name="adj" fmla="val 6000"/>
            </a:avLst>
          </a:prstGeom>
          <a:solidFill>
            <a:srgbClr val="0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242815"/>
            <a:ext cx="1261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B4FF"/>
                </a:solidFill>
                <a:latin typeface="Segoe UI"/>
              </a:rPr>
              <a:t>TOOL CALL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19072" y="4242815"/>
            <a:ext cx="10058400" cy="301752"/>
          </a:xfrm>
          <a:prstGeom prst="roundRect">
            <a:avLst>
              <a:gd name="adj" fmla="val 6000"/>
            </a:avLst>
          </a:prstGeom>
          <a:solidFill>
            <a:srgbClr val="00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4242815"/>
            <a:ext cx="9829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FF"/>
                </a:solidFill>
                <a:latin typeface="Segoe UI"/>
              </a:rPr>
              <a:t>→ approve_mapping(actor='jane@corp.com', reason='Confirmed DDL', expected_version=0)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581143"/>
            <a:ext cx="1261872" cy="301752"/>
          </a:xfrm>
          <a:prstGeom prst="roundRect">
            <a:avLst>
              <a:gd name="adj" fmla="val 6000"/>
            </a:avLst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581143"/>
            <a:ext cx="1261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B8AA8"/>
                </a:solidFill>
                <a:latin typeface="Segoe UI"/>
              </a:rPr>
              <a:t>RESULT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19072" y="4581143"/>
            <a:ext cx="10058400" cy="301752"/>
          </a:xfrm>
          <a:prstGeom prst="roundRect">
            <a:avLst>
              <a:gd name="adj" fmla="val 6000"/>
            </a:avLst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0" y="4581143"/>
            <a:ext cx="9829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E576"/>
                </a:solidFill>
                <a:latin typeface="Segoe UI"/>
              </a:rPr>
              <a:t>APPROVED  ·  Version = 1  ·  AuditRecord written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919471"/>
            <a:ext cx="1261872" cy="301752"/>
          </a:xfrm>
          <a:prstGeom prst="roundRect">
            <a:avLst>
              <a:gd name="adj" fmla="val 6000"/>
            </a:avLst>
          </a:prstGeom>
          <a:solidFill>
            <a:srgbClr val="00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919471"/>
            <a:ext cx="1261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B4FF"/>
                </a:solidFill>
                <a:latin typeface="Segoe UI"/>
              </a:rPr>
              <a:t>TOOL CALL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19072" y="4919471"/>
            <a:ext cx="10058400" cy="301752"/>
          </a:xfrm>
          <a:prstGeom prst="roundRect">
            <a:avLst>
              <a:gd name="adj" fmla="val 6000"/>
            </a:avLst>
          </a:prstGeom>
          <a:solidFill>
            <a:srgbClr val="00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0" y="4919471"/>
            <a:ext cx="9829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FF"/>
                </a:solidFill>
                <a:latin typeface="Segoe UI"/>
              </a:rPr>
              <a:t>→ execute_validation(actor='jane@corp.com')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257799"/>
            <a:ext cx="1261872" cy="301752"/>
          </a:xfrm>
          <a:prstGeom prst="roundRect">
            <a:avLst>
              <a:gd name="adj" fmla="val 6000"/>
            </a:avLst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5257799"/>
            <a:ext cx="1261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B8AA8"/>
                </a:solidFill>
                <a:latin typeface="Segoe UI"/>
              </a:rPr>
              <a:t>RESULT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19072" y="5257799"/>
            <a:ext cx="10058400" cy="301752"/>
          </a:xfrm>
          <a:prstGeom prst="roundRect">
            <a:avLst>
              <a:gd name="adj" fmla="val 6000"/>
            </a:avLst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28800" y="5257799"/>
            <a:ext cx="9829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E576"/>
                </a:solidFill>
                <a:latin typeface="Segoe UI"/>
              </a:rPr>
              <a:t>STATUS: PASS  ·  Coverage: 100%  ·  38 columns  ·  0 failures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5596127"/>
            <a:ext cx="1261872" cy="301752"/>
          </a:xfrm>
          <a:prstGeom prst="roundRect">
            <a:avLst>
              <a:gd name="adj" fmla="val 6000"/>
            </a:avLst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596127"/>
            <a:ext cx="1261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B8AA8"/>
                </a:solidFill>
                <a:latin typeface="Segoe UI"/>
              </a:rPr>
              <a:t>GEMINI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19072" y="5596127"/>
            <a:ext cx="10058400" cy="301752"/>
          </a:xfrm>
          <a:prstGeom prst="roundRect">
            <a:avLst>
              <a:gd name="adj" fmla="val 6000"/>
            </a:avLst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0" y="5596127"/>
            <a:ext cx="9829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E576"/>
                </a:solidFill>
                <a:latin typeface="Segoe UI"/>
              </a:rPr>
              <a:t>"All 38 columns validated. No mismatches detected."</a:t>
            </a:r>
          </a:p>
        </p:txBody>
      </p:sp>
      <p:sp>
        <p:nvSpPr>
          <p:cNvPr id="58" name="Rectangle 57"/>
          <p:cNvSpPr/>
          <p:nvPr/>
        </p:nvSpPr>
        <p:spPr>
          <a:gradFill>
            <a:gsLst>
              <a:gs pos="0">
                <a:srgbClr val="00B4FF"/>
              </a:gs>
              <a:gs pos="100000">
                <a:srgbClr val="00E576"/>
              </a:gs>
            </a:gsLst>
            <a:lin ang="0" scaled="0"/>
          </a:gradFill>
          <a:xfrm>
            <a:off x="411480" y="5330952"/>
            <a:ext cx="11384280" cy="4572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411480" y="5440680"/>
            <a:ext cx="2212848" cy="1115568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4400" y="5532120"/>
            <a:ext cx="1207008" cy="50292"/>
          </a:xfrm>
          <a:prstGeom prst="roundRect">
            <a:avLst>
              <a:gd name="adj" fmla="val 20000"/>
            </a:avLst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562356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76"/>
                </a:solidFill>
                <a:latin typeface="Segoe UI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624535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Tool calls by Gemini</a:t>
            </a:r>
          </a:p>
        </p:txBody>
      </p:sp>
      <p:sp>
        <p:nvSpPr>
          <p:cNvPr id="63" name="Rectangle 62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2761488" y="5440680"/>
            <a:ext cx="2212848" cy="1115568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64408" y="5532120"/>
            <a:ext cx="1207008" cy="50292"/>
          </a:xfrm>
          <a:prstGeom prst="roundRect">
            <a:avLst>
              <a:gd name="adj" fmla="val 20000"/>
            </a:avLst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61488" y="562356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76"/>
                </a:solidFill>
                <a:latin typeface="Segoe UI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61488" y="624535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SQL written by hand</a:t>
            </a:r>
          </a:p>
        </p:txBody>
      </p:sp>
      <p:sp>
        <p:nvSpPr>
          <p:cNvPr id="67" name="Rectangle 66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5111496" y="5440680"/>
            <a:ext cx="2212848" cy="1115568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14416" y="5532120"/>
            <a:ext cx="1207008" cy="50292"/>
          </a:xfrm>
          <a:prstGeom prst="roundRect">
            <a:avLst>
              <a:gd name="adj" fmla="val 20000"/>
            </a:avLst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11496" y="562356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76"/>
                </a:solidFill>
                <a:latin typeface="Segoe U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11496" y="624535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Human decision logged</a:t>
            </a:r>
          </a:p>
        </p:txBody>
      </p:sp>
      <p:sp>
        <p:nvSpPr>
          <p:cNvPr id="71" name="Rectangle 70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7461504" y="5440680"/>
            <a:ext cx="2212848" cy="1115568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964424" y="5532120"/>
            <a:ext cx="1207008" cy="50292"/>
          </a:xfrm>
          <a:prstGeom prst="roundRect">
            <a:avLst>
              <a:gd name="adj" fmla="val 20000"/>
            </a:avLst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61504" y="562356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76"/>
                </a:solidFill>
                <a:latin typeface="Segoe UI"/>
              </a:rPr>
              <a:t>&lt; 30s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61504" y="624535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Total time</a:t>
            </a:r>
          </a:p>
        </p:txBody>
      </p:sp>
      <p:sp>
        <p:nvSpPr>
          <p:cNvPr id="75" name="Rectangle 74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9811512" y="5440680"/>
            <a:ext cx="2212848" cy="1115568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314432" y="5532120"/>
            <a:ext cx="1207008" cy="50292"/>
          </a:xfrm>
          <a:prstGeom prst="roundRect">
            <a:avLst>
              <a:gd name="adj" fmla="val 20000"/>
            </a:avLst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11512" y="562356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76"/>
                </a:solidFill>
                <a:latin typeface="Segoe UI"/>
              </a:rPr>
              <a:t>100%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11512" y="624535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Coverage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AA8"/>
                </a:solidFill>
                <a:latin typeface="Segoe UI"/>
              </a:rPr>
              <a:t>EPAM Hackathon 2026  ·  Stream 3: Connectors for Gemini Applications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503152" y="65562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8AA8"/>
                </a:solidFill>
                <a:latin typeface="Segoe U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60C12"/>
              </a:gs>
              <a:gs pos="100000">
                <a:srgbClr val="0C1826"/>
              </a:gs>
            </a:gsLst>
            <a:lin ang="78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5752" y="-4114800"/>
            <a:ext cx="6400800" cy="64008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91840" y="4754880"/>
            <a:ext cx="5120640" cy="5120640"/>
          </a:xfrm>
          <a:prstGeom prst="ellipse">
            <a:avLst/>
          </a:prstGeom>
          <a:solidFill>
            <a:srgbClr val="FF8C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2011680" cy="256032"/>
          </a:xfrm>
          <a:prstGeom prst="roundRect">
            <a:avLst>
              <a:gd name="adj" fmla="val 20000"/>
            </a:avLst>
          </a:prstGeom>
          <a:solidFill>
            <a:srgbClr val="3F1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C00"/>
                </a:solidFill>
                <a:latin typeface="Segoe UI"/>
              </a:rPr>
              <a:t>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AI proposes. Humans decide.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8C00"/>
                </a:solidFill>
                <a:latin typeface="Segoe UI"/>
              </a:rPr>
              <a:t>Every decision is on record.</a:t>
            </a:r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FF8C00"/>
              </a:gs>
              <a:gs pos="100000">
                <a:srgbClr val="00FFD4"/>
              </a:gs>
            </a:gsLst>
            <a:lin ang="0" scaled="0"/>
          </a:gradFill>
          <a:xfrm>
            <a:off x="502920" y="1828800"/>
            <a:ext cx="5029200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9339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00"/>
                </a:solidFill>
                <a:latin typeface="Segoe UI"/>
              </a:rPr>
              <a:t>CONFIDENCE ROUTING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77440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00E576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1234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60D18"/>
                </a:solidFill>
                <a:latin typeface="Segoe UI"/>
              </a:rPr>
              <a:t>≥ 95%</a:t>
            </a:r>
          </a:p>
        </p:txBody>
      </p:sp>
      <p:sp>
        <p:nvSpPr>
          <p:cNvPr id="13" name="Rectangle 12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9000000" scaled="0"/>
          </a:gradFill>
          <a:xfrm>
            <a:off x="1847088" y="2377440"/>
            <a:ext cx="3749039" cy="86868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47088" y="2487168"/>
            <a:ext cx="36576" cy="64008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75104" y="2468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76"/>
                </a:solidFill>
                <a:latin typeface="Segoe UI"/>
              </a:rPr>
              <a:t>AUTO-ACCEPTED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5104" y="28529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AA8"/>
                </a:solidFill>
                <a:latin typeface="Segoe UI"/>
              </a:rPr>
              <a:t>No human review needed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64992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FF8C00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364992"/>
            <a:ext cx="1234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60D18"/>
                </a:solidFill>
                <a:latin typeface="Segoe UI"/>
              </a:rPr>
              <a:t>75–94%</a:t>
            </a:r>
          </a:p>
        </p:txBody>
      </p:sp>
      <p:sp>
        <p:nvSpPr>
          <p:cNvPr id="19" name="Rectangle 18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9000000" scaled="0"/>
          </a:gradFill>
          <a:xfrm>
            <a:off x="1847088" y="3364992"/>
            <a:ext cx="3749039" cy="86868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47088" y="3474720"/>
            <a:ext cx="36576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75104" y="34564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  <a:latin typeface="Segoe UI"/>
              </a:rPr>
              <a:t>STANDARD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38404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AA8"/>
                </a:solidFill>
                <a:latin typeface="Segoe UI"/>
              </a:rPr>
              <a:t>Queued in ApprovalStore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52544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FF3D3D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352544"/>
            <a:ext cx="1234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60D18"/>
                </a:solidFill>
                <a:latin typeface="Segoe UI"/>
              </a:rPr>
              <a:t>&lt; 75%</a:t>
            </a:r>
          </a:p>
        </p:txBody>
      </p:sp>
      <p:sp>
        <p:nvSpPr>
          <p:cNvPr id="25" name="Rectangle 24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9000000" scaled="0"/>
          </a:gradFill>
          <a:xfrm>
            <a:off x="1847088" y="4352544"/>
            <a:ext cx="3749039" cy="86868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47088" y="4462272"/>
            <a:ext cx="36576" cy="64008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75104" y="44439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D3D"/>
                </a:solidFill>
                <a:latin typeface="Segoe UI"/>
              </a:rPr>
              <a:t>MANDATORY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75104" y="482803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AA8"/>
                </a:solidFill>
                <a:latin typeface="Segoe UI"/>
              </a:rPr>
              <a:t>Never auto-accepted — escalated</a:t>
            </a:r>
          </a:p>
        </p:txBody>
      </p:sp>
      <p:sp>
        <p:nvSpPr>
          <p:cNvPr id="29" name="Rectangle 28"/>
          <p:cNvSpPr/>
          <p:nvPr/>
        </p:nvSpPr>
        <p:spPr>
          <a:gradFill>
            <a:gsLst>
              <a:gs pos="0">
                <a:srgbClr val="300808"/>
              </a:gs>
              <a:gs pos="100000">
                <a:srgbClr val="200505"/>
              </a:gs>
            </a:gsLst>
            <a:lin ang="8100000" scaled="0"/>
          </a:gradFill>
          <a:xfrm>
            <a:off x="502920" y="5413248"/>
            <a:ext cx="5093208" cy="749808"/>
          </a:xfrm>
          <a:prstGeom prst="roundRect">
            <a:avLst>
              <a:gd name="adj" fmla="val 9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504688"/>
            <a:ext cx="41148" cy="566928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504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D3D"/>
                </a:solidFill>
                <a:latin typeface="Segoe UI"/>
              </a:rPr>
              <a:t>⚠  AI SELF-APPROVAL BLOCKED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8155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"gemini_ai" and "ai" actor strings rejected at the tool level.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1993392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00"/>
                </a:solidFill>
                <a:latin typeface="Segoe UI"/>
              </a:rPr>
              <a:t>APPROVAL FLOW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377440"/>
            <a:ext cx="4206240" cy="512064"/>
          </a:xfrm>
          <a:prstGeom prst="roundRect">
            <a:avLst>
              <a:gd name="adj" fmla="val 9000"/>
            </a:avLst>
          </a:prstGeom>
          <a:solidFill>
            <a:srgbClr val="001E38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75120" y="2450592"/>
            <a:ext cx="36576" cy="3657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03136" y="2377440"/>
            <a:ext cx="40782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Gemini Recommendation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78240.0" y="2889504"/>
            <a:ext cx="0.0" cy="228600"/>
          </a:xfrm>
          <a:prstGeom prst="line">
            <a:avLst/>
          </a:prstGeom>
          <a:ln w="2540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659368" y="305409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  <a:latin typeface="Segoe UI"/>
              </a:rPr>
              <a:t>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3145536"/>
            <a:ext cx="4206240" cy="512064"/>
          </a:xfrm>
          <a:prstGeom prst="roundRect">
            <a:avLst>
              <a:gd name="adj" fmla="val 9000"/>
            </a:avLst>
          </a:prstGeom>
          <a:solidFill>
            <a:srgbClr val="302808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75120" y="3218688"/>
            <a:ext cx="36576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3145536"/>
            <a:ext cx="40782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ApprovalStore  {status: PENDING}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778240.0" y="3657600"/>
            <a:ext cx="0.0" cy="228600"/>
          </a:xfrm>
          <a:prstGeom prst="line">
            <a:avLst/>
          </a:prstGeom>
          <a:ln w="2540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659368" y="382219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  <a:latin typeface="Segoe UI"/>
              </a:rPr>
              <a:t>▾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3913632"/>
            <a:ext cx="4206240" cy="512064"/>
          </a:xfrm>
          <a:prstGeom prst="roundRect">
            <a:avLst>
              <a:gd name="adj" fmla="val 9000"/>
            </a:avLst>
          </a:prstGeom>
          <a:solidFill>
            <a:srgbClr val="281804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75120" y="3986784"/>
            <a:ext cx="36576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03136" y="3913632"/>
            <a:ext cx="40782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Human Reviews Decision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778240.0" y="4425696"/>
            <a:ext cx="0.0" cy="228600"/>
          </a:xfrm>
          <a:prstGeom prst="line">
            <a:avLst/>
          </a:prstGeom>
          <a:ln w="2540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659368" y="459028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  <a:latin typeface="Segoe UI"/>
              </a:rPr>
              <a:t>▾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4681728"/>
            <a:ext cx="1691640" cy="493776"/>
          </a:xfrm>
          <a:prstGeom prst="roundRect">
            <a:avLst>
              <a:gd name="adj" fmla="val 10000"/>
            </a:avLst>
          </a:prstGeom>
          <a:solidFill>
            <a:srgbClr val="00E576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08192" y="4681728"/>
            <a:ext cx="1691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D18"/>
                </a:solidFill>
                <a:latin typeface="Segoe UI"/>
              </a:rPr>
              <a:t>Approve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10144" y="4681728"/>
            <a:ext cx="1691640" cy="493776"/>
          </a:xfrm>
          <a:prstGeom prst="roundRect">
            <a:avLst>
              <a:gd name="adj" fmla="val 10000"/>
            </a:avLst>
          </a:prstGeom>
          <a:solidFill>
            <a:srgbClr val="FF8C00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10144" y="4681728"/>
            <a:ext cx="1691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D18"/>
                </a:solidFill>
                <a:latin typeface="Segoe UI"/>
              </a:rPr>
              <a:t>Modify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12096" y="4681728"/>
            <a:ext cx="1691640" cy="493776"/>
          </a:xfrm>
          <a:prstGeom prst="roundRect">
            <a:avLst>
              <a:gd name="adj" fmla="val 10000"/>
            </a:avLst>
          </a:prstGeom>
          <a:solidFill>
            <a:srgbClr val="FF3D3D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12096" y="4681728"/>
            <a:ext cx="1691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D18"/>
                </a:solidFill>
                <a:latin typeface="Segoe UI"/>
              </a:rPr>
              <a:t>Reject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778240.0" y="5230368"/>
            <a:ext cx="0.0" cy="201168"/>
          </a:xfrm>
          <a:prstGeom prst="line">
            <a:avLst/>
          </a:prstGeom>
          <a:ln w="25400">
            <a:solidFill>
              <a:srgbClr val="00E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659368" y="536752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76"/>
                </a:solidFill>
                <a:latin typeface="Segoe UI"/>
              </a:rPr>
              <a:t>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5458968"/>
            <a:ext cx="4206240" cy="475488"/>
          </a:xfrm>
          <a:prstGeom prst="roundRect">
            <a:avLst>
              <a:gd name="adj" fmla="val 9000"/>
            </a:avLst>
          </a:prstGeom>
          <a:solidFill>
            <a:srgbClr val="0D1B2A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5458968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E576"/>
                </a:solidFill>
                <a:latin typeface="Segoe UI"/>
              </a:rPr>
              <a:t>CanonicalValidationPlan  →  SQL  →  Execution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60258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8AA8"/>
                </a:solidFill>
                <a:latin typeface="Segoe UI"/>
              </a:rPr>
              <a:t>actor · timestamp · reason · version → audit_log.jsonl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AA8"/>
                </a:solidFill>
                <a:latin typeface="Segoe UI"/>
              </a:rPr>
              <a:t>EPAM Hackathon 2026  ·  Stream 3: Connectors for Gemini Applications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03152" y="65562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8AA8"/>
                </a:solidFill>
                <a:latin typeface="Segoe U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60814"/>
              </a:gs>
              <a:gs pos="100000">
                <a:srgbClr val="0D1626"/>
              </a:gs>
            </a:gsLst>
            <a:lin ang="75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5752" y="-4114800"/>
            <a:ext cx="6400800" cy="6400800"/>
          </a:xfrm>
          <a:prstGeom prst="ellipse">
            <a:avLst/>
          </a:prstGeom>
          <a:solidFill>
            <a:srgbClr val="FF3D3D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91840" y="4754880"/>
            <a:ext cx="5120640" cy="5120640"/>
          </a:xfrm>
          <a:prstGeom prst="ellipse">
            <a:avLst/>
          </a:prstGeom>
          <a:solidFill>
            <a:srgbClr val="FF3D3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2011680" cy="256032"/>
          </a:xfrm>
          <a:prstGeom prst="roundRect">
            <a:avLst>
              <a:gd name="adj" fmla="val 20000"/>
            </a:avLst>
          </a:prstGeom>
          <a:solidFill>
            <a:srgbClr val="3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3D3D"/>
                </a:solidFill>
                <a:latin typeface="Segoe UI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Enterprise-grade security,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3D3D"/>
                </a:solidFill>
                <a:latin typeface="Segoe UI"/>
              </a:rPr>
              <a:t>built in from day one.</a:t>
            </a:r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FF3D3D"/>
              </a:gs>
              <a:gs pos="100000">
                <a:srgbClr val="FF8C00"/>
              </a:gs>
            </a:gsLst>
            <a:lin ang="0" scaled="0"/>
          </a:gradFill>
          <a:xfrm>
            <a:off x="502920" y="2011680"/>
            <a:ext cx="5029200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176272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0B4FF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7627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D18"/>
                </a:solidFill>
                <a:latin typeface="Segoe U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9000000" scaled="0"/>
          </a:gradFill>
          <a:xfrm>
            <a:off x="411480" y="2578608"/>
            <a:ext cx="2880360" cy="416052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578608"/>
            <a:ext cx="2880360" cy="502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7919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FF"/>
                </a:solidFill>
                <a:latin typeface="Segoe UI"/>
              </a:rPr>
              <a:t>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7066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FF"/>
                </a:solidFill>
                <a:latin typeface="Segoe UI"/>
              </a:rP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182112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JWT (HS256) — enterprise SSO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511296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Static token — CI/CD pipelines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840480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Dev mode — local only (ADMIN, no validation)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176272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0FFD4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217627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D18"/>
                </a:solidFill>
                <a:latin typeface="Segoe UI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9000000" scaled="0"/>
          </a:gradFill>
          <a:xfrm>
            <a:off x="3429000" y="2578608"/>
            <a:ext cx="2880360" cy="416052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2578608"/>
            <a:ext cx="2880360" cy="50292"/>
          </a:xfrm>
          <a:prstGeom prst="rect">
            <a:avLst/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267919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D4"/>
                </a:solidFill>
                <a:latin typeface="Segoe UI"/>
              </a:rPr>
              <a:t>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27066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D4"/>
                </a:solidFill>
                <a:latin typeface="Segoe UI"/>
              </a:rPr>
              <a:t>AUTHORIZATION (RBAC)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182112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5 roles: VIEWER → REVIEWER → RULE_ADMIN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3511296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           VALIDATION_OPERATOR →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3840480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15 fine-grained permissions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4169664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Resource-level allowlists (source / DB / schema)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176272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F8C00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17627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D18"/>
                </a:solidFill>
                <a:latin typeface="Segoe U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9000000" scaled="0"/>
          </a:gradFill>
          <a:xfrm>
            <a:off x="6446520" y="2578608"/>
            <a:ext cx="2880360" cy="416052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2578608"/>
            <a:ext cx="2880360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67919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8C00"/>
                </a:solidFill>
                <a:latin typeface="Segoe UI"/>
              </a:rPr>
              <a:t>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27066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CONCURRENCY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1112" y="3182112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Optimistic concurrency (VersionStore)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1112" y="3511296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check_and_bump(entity_key, expected_version)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3840480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HTTP 409 VERSION_CONFLICT on stale write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4169664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Prevents parallel approval conflicts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64040" y="2176272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0E576"/>
          </a:solidFill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64040" y="217627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D18"/>
                </a:solidFill>
                <a:latin typeface="Segoe U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9000000" scaled="0"/>
          </a:gradFill>
          <a:xfrm>
            <a:off x="9464040" y="2578608"/>
            <a:ext cx="2880360" cy="416052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64040" y="2578608"/>
            <a:ext cx="2880360" cy="5029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267919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76"/>
                </a:solidFill>
                <a:latin typeface="Segoe UI"/>
              </a:rPr>
              <a:t>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27066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  <a:latin typeface="Segoe UI"/>
              </a:rPr>
              <a:t>AUDIT TRAIL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28632" y="3182112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Append-only JSONL (never modified or deleted)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28632" y="3511296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actor · user_id · timestamp · reason · version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28632" y="3840480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No secrets, passwords, or raw data logged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8632" y="4169664"/>
            <a:ext cx="2551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▸  request_id links to tool call log</a:t>
            </a:r>
          </a:p>
        </p:txBody>
      </p:sp>
      <p:sp>
        <p:nvSpPr>
          <p:cNvPr id="49" name="Rectangle 48"/>
          <p:cNvSpPr/>
          <p:nvPr/>
        </p:nvSpPr>
        <p:spPr>
          <a:gradFill>
            <a:gsLst>
              <a:gs pos="0">
                <a:srgbClr val="061E06"/>
              </a:gs>
              <a:gs pos="100000">
                <a:srgbClr val="041404"/>
              </a:gs>
            </a:gsLst>
            <a:lin ang="8100000" scaled="0"/>
          </a:gradFill>
          <a:xfrm>
            <a:off x="411480" y="6839712"/>
            <a:ext cx="11365992" cy="685800"/>
          </a:xfrm>
          <a:prstGeom prst="roundRect">
            <a:avLst>
              <a:gd name="adj" fmla="val 9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" y="6839712"/>
            <a:ext cx="54864" cy="6858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" y="69311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Segoe UI"/>
              </a:rPr>
              <a:t>ZERO CREDENTIAL EXPOSURE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37560" y="7022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Gemini receives tool results only — never passwords, connection strings, or API keys.   31 / 31 security tests pass.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AA8"/>
                </a:solidFill>
                <a:latin typeface="Segoe UI"/>
              </a:rPr>
              <a:t>EPAM Hackathon 2026  ·  Stream 3: Connectors for Gemini Applications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03152" y="65562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8AA8"/>
                </a:solidFill>
                <a:latin typeface="Segoe U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0C1C2E"/>
              </a:gs>
            </a:gsLst>
            <a:lin ang="78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5752" y="-4114800"/>
            <a:ext cx="6400800" cy="6400800"/>
          </a:xfrm>
          <a:prstGeom prst="ellipse">
            <a:avLst/>
          </a:prstGeom>
          <a:solidFill>
            <a:srgbClr val="00FFD4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91840" y="4754880"/>
            <a:ext cx="5120640" cy="5120640"/>
          </a:xfrm>
          <a:prstGeom prst="ellipse">
            <a:avLst/>
          </a:prstGeom>
          <a:solidFill>
            <a:srgbClr val="00FFD4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2011680" cy="256032"/>
          </a:xfrm>
          <a:prstGeom prst="roundRect">
            <a:avLst>
              <a:gd name="adj" fmla="val 20000"/>
            </a:avLst>
          </a:prstGeom>
          <a:solidFill>
            <a:srgbClr val="14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FFD4"/>
                </a:solidFill>
                <a:latin typeface="Segoe UI"/>
              </a:rPr>
              <a:t>RULE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Deterministic validation,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FFD4"/>
                </a:solidFill>
                <a:latin typeface="Segoe UI"/>
              </a:rPr>
              <a:t>AI-augmented governance.</a:t>
            </a:r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00FFD4"/>
              </a:gs>
              <a:gs pos="100000">
                <a:srgbClr val="00B4FF"/>
              </a:gs>
            </a:gsLst>
            <a:lin ang="0" scaled="0"/>
          </a:gradFill>
          <a:xfrm>
            <a:off x="502920" y="2011680"/>
            <a:ext cx="5029200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9000000" scaled="0"/>
          </a:gradFill>
          <a:xfrm>
            <a:off x="411480" y="2176272"/>
            <a:ext cx="5715000" cy="804672"/>
          </a:xfrm>
          <a:prstGeom prst="roundRect">
            <a:avLst>
              <a:gd name="adj" fmla="val 9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176272"/>
            <a:ext cx="43891" cy="804672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59152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6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5915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0912" y="2468880"/>
            <a:ext cx="1005840" cy="219456"/>
          </a:xfrm>
          <a:prstGeom prst="roundRect">
            <a:avLst>
              <a:gd name="adj" fmla="val 20000"/>
            </a:avLst>
          </a:prstGeom>
          <a:solidFill>
            <a:srgbClr val="FF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2468880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D18"/>
                </a:solidFill>
                <a:latin typeface="Segoe UI"/>
              </a:rPr>
              <a:t>BUILT-IN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24942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D3D"/>
                </a:solidFill>
                <a:latin typeface="Segoe UI"/>
              </a:rPr>
              <a:t>Static Exclusions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615184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Built-in Fivetran audit columns excluded automatically — no config</a:t>
            </a:r>
          </a:p>
        </p:txBody>
      </p:sp>
      <p:sp>
        <p:nvSpPr>
          <p:cNvPr id="18" name="Rectangle 17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9000000" scaled="0"/>
          </a:gradFill>
          <a:xfrm>
            <a:off x="411480" y="3063240"/>
            <a:ext cx="5715000" cy="804672"/>
          </a:xfrm>
          <a:prstGeom prst="roundRect">
            <a:avLst>
              <a:gd name="adj" fmla="val 9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063240"/>
            <a:ext cx="43891" cy="8046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6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461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10912" y="3355848"/>
            <a:ext cx="1005840" cy="219456"/>
          </a:xfrm>
          <a:prstGeom prst="roundRect">
            <a:avLst>
              <a:gd name="adj" fmla="val 20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10912" y="335584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D18"/>
                </a:solidFill>
                <a:latin typeface="Segoe UI"/>
              </a:rPr>
              <a:t>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13639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Segoe UI"/>
              </a:rPr>
              <a:t>Pattern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502152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Regex: ^_FIVETRAN_.* matches entire column families</a:t>
            </a:r>
          </a:p>
        </p:txBody>
      </p:sp>
      <p:sp>
        <p:nvSpPr>
          <p:cNvPr id="26" name="Rectangle 25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9000000" scaled="0"/>
          </a:gradFill>
          <a:xfrm>
            <a:off x="411480" y="3950208"/>
            <a:ext cx="5715000" cy="804672"/>
          </a:xfrm>
          <a:prstGeom prst="roundRect">
            <a:avLst>
              <a:gd name="adj" fmla="val 9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950208"/>
            <a:ext cx="43891" cy="80467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133088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6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1330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0912" y="4242816"/>
            <a:ext cx="1005840" cy="219456"/>
          </a:xfrm>
          <a:prstGeom prst="roundRect">
            <a:avLst>
              <a:gd name="adj" fmla="val 20000"/>
            </a:avLst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10912" y="424281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D18"/>
                </a:solidFill>
                <a:latin typeface="Segoe UI"/>
              </a:rPr>
              <a:t>USER-DEFINED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023360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  <a:latin typeface="Segoe UI"/>
              </a:rPr>
              <a:t>Global Exclusions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389120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User-defined per DB type — persisted to YAML for all tables</a:t>
            </a:r>
          </a:p>
        </p:txBody>
      </p:sp>
      <p:sp>
        <p:nvSpPr>
          <p:cNvPr id="34" name="Rectangle 33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9000000" scaled="0"/>
          </a:gradFill>
          <a:xfrm>
            <a:off x="411480" y="4837176"/>
            <a:ext cx="5715000" cy="804672"/>
          </a:xfrm>
          <a:prstGeom prst="roundRect">
            <a:avLst>
              <a:gd name="adj" fmla="val 9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4837176"/>
            <a:ext cx="43891" cy="804672"/>
          </a:xfrm>
          <a:prstGeom prst="rect">
            <a:avLst/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020056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6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02005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10912" y="5129784"/>
            <a:ext cx="1005840" cy="219456"/>
          </a:xfrm>
          <a:prstGeom prst="roundRect">
            <a:avLst>
              <a:gd name="adj" fmla="val 20000"/>
            </a:avLst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10912" y="512978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D18"/>
                </a:solidFill>
                <a:latin typeface="Segoe UI"/>
              </a:rPr>
              <a:t>GENERATED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491032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D4"/>
                </a:solidFill>
                <a:latin typeface="Segoe UI"/>
              </a:rPr>
              <a:t>Transformation 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27608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boolean→'0'/'1', timestamp→text, hstore→json, uuid→text</a:t>
            </a:r>
          </a:p>
        </p:txBody>
      </p:sp>
      <p:sp>
        <p:nvSpPr>
          <p:cNvPr id="42" name="Rectangle 41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162A40"/>
              </a:gs>
            </a:gsLst>
            <a:lin ang="9000000" scaled="0"/>
          </a:gradFill>
          <a:xfrm>
            <a:off x="411480" y="5724144"/>
            <a:ext cx="5715000" cy="804672"/>
          </a:xfrm>
          <a:prstGeom prst="roundRect">
            <a:avLst>
              <a:gd name="adj" fmla="val 9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5724144"/>
            <a:ext cx="43891" cy="80467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907024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6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90702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10912" y="6016752"/>
            <a:ext cx="1005840" cy="219456"/>
          </a:xfrm>
          <a:prstGeom prst="roundRect">
            <a:avLst>
              <a:gd name="adj" fmla="val 20000"/>
            </a:avLst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10912" y="601675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D18"/>
                </a:solidFill>
                <a:latin typeface="Segoe UI"/>
              </a:rPr>
              <a:t>AI + HUMAN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797296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  <a:latin typeface="Segoe UI"/>
              </a:rPr>
              <a:t>Learned Rules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6163056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AI-proposed, human-reviewed (RULE_ADMIN only), versioned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217627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FFD4"/>
                </a:solidFill>
                <a:latin typeface="Segoe UI"/>
              </a:rPr>
              <a:t>LEARNED RULE LIFECYCLE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6520" y="2578608"/>
            <a:ext cx="5321808" cy="521207"/>
          </a:xfrm>
          <a:prstGeom prst="roundRect">
            <a:avLst>
              <a:gd name="adj" fmla="val 9000"/>
            </a:avLst>
          </a:prstGeom>
          <a:solidFill>
            <a:srgbClr val="0D1B2A"/>
          </a:solidFill>
          <a:ln w="15240">
            <a:solidFill>
              <a:srgbClr val="00B4FF"/>
            </a:solidFill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46520" y="2660904"/>
            <a:ext cx="41148" cy="34747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2651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FF"/>
                </a:solidFill>
                <a:latin typeface="Segoe UI"/>
              </a:rPr>
              <a:t>AI Proposal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2706624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Observed pattern during pipeline run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107424" y="3099815"/>
            <a:ext cx="0" cy="182880"/>
          </a:xfrm>
          <a:prstGeom prst="line">
            <a:avLst/>
          </a:prstGeom>
          <a:ln w="254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988552" y="3218687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FF"/>
                </a:solidFill>
                <a:latin typeface="Segoe UI"/>
              </a:rPr>
              <a:t>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3291840"/>
            <a:ext cx="5321808" cy="521207"/>
          </a:xfrm>
          <a:prstGeom prst="roundRect">
            <a:avLst>
              <a:gd name="adj" fmla="val 9000"/>
            </a:avLst>
          </a:prstGeom>
          <a:solidFill>
            <a:srgbClr val="0D1B2A"/>
          </a:solidFill>
          <a:ln w="15240">
            <a:solidFill>
              <a:srgbClr val="888810"/>
            </a:solidFill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46520" y="3374136"/>
            <a:ext cx="41148" cy="347472"/>
          </a:xfrm>
          <a:prstGeom prst="rect">
            <a:avLst/>
          </a:prstGeom>
          <a:solidFill>
            <a:srgbClr val="888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01968" y="33649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88810"/>
                </a:solidFill>
                <a:latin typeface="Segoe UI"/>
              </a:rPr>
              <a:t>Draft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0" y="3419856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Saved to rule_book_learned.json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107424" y="3813047"/>
            <a:ext cx="0" cy="182880"/>
          </a:xfrm>
          <a:prstGeom prst="line">
            <a:avLst/>
          </a:prstGeom>
          <a:ln w="25400">
            <a:solidFill>
              <a:srgbClr val="888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988552" y="3931919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810"/>
                </a:solidFill>
                <a:latin typeface="Segoe UI"/>
              </a:rPr>
              <a:t>▾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4005072"/>
            <a:ext cx="5321808" cy="521207"/>
          </a:xfrm>
          <a:prstGeom prst="roundRect">
            <a:avLst>
              <a:gd name="adj" fmla="val 9000"/>
            </a:avLst>
          </a:prstGeom>
          <a:solidFill>
            <a:srgbClr val="0D1B2A"/>
          </a:solidFill>
          <a:ln w="15240">
            <a:solidFill>
              <a:srgbClr val="FF8C00"/>
            </a:solidFill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46520" y="4087368"/>
            <a:ext cx="41148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01968" y="40782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8C00"/>
                </a:solidFill>
                <a:latin typeface="Segoe UI"/>
              </a:rPr>
              <a:t>Human Review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4133088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RULE_ADMIN reviews and decides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107424" y="4526279"/>
            <a:ext cx="0" cy="182880"/>
          </a:xfrm>
          <a:prstGeom prst="line">
            <a:avLst/>
          </a:prstGeom>
          <a:ln w="2540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988552" y="4645151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  <a:latin typeface="Segoe UI"/>
              </a:rPr>
              <a:t>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4718304"/>
            <a:ext cx="5321808" cy="521207"/>
          </a:xfrm>
          <a:prstGeom prst="roundRect">
            <a:avLst>
              <a:gd name="adj" fmla="val 9000"/>
            </a:avLst>
          </a:prstGeom>
          <a:solidFill>
            <a:srgbClr val="0D1B2A"/>
          </a:solidFill>
          <a:ln w="15240">
            <a:solidFill>
              <a:srgbClr val="00FFD4"/>
            </a:solidFill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46520" y="4800600"/>
            <a:ext cx="41148" cy="347472"/>
          </a:xfrm>
          <a:prstGeom prst="rect">
            <a:avLst/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01968" y="47914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FFD4"/>
                </a:solidFill>
                <a:latin typeface="Segoe UI"/>
              </a:rPr>
              <a:t>Approved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95360" y="4846320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Queued for activation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107424" y="5239511"/>
            <a:ext cx="0" cy="182880"/>
          </a:xfrm>
          <a:prstGeom prst="line">
            <a:avLst/>
          </a:prstGeom>
          <a:ln w="25400">
            <a:solidFill>
              <a:srgbClr val="00F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988552" y="5358383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FD4"/>
                </a:solidFill>
                <a:latin typeface="Segoe UI"/>
              </a:rPr>
              <a:t>▾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5431536"/>
            <a:ext cx="5321808" cy="521207"/>
          </a:xfrm>
          <a:prstGeom prst="roundRect">
            <a:avLst>
              <a:gd name="adj" fmla="val 9000"/>
            </a:avLst>
          </a:prstGeom>
          <a:solidFill>
            <a:srgbClr val="0D1B2A"/>
          </a:solidFill>
          <a:ln w="15240">
            <a:solidFill>
              <a:srgbClr val="00E576"/>
            </a:solidFill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46520" y="5513832"/>
            <a:ext cx="41148" cy="34747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01968" y="55046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E576"/>
                </a:solidFill>
                <a:latin typeface="Segoe UI"/>
              </a:rPr>
              <a:t>Active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95360" y="555955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Applied to all future pipeline runs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107424" y="5952743"/>
            <a:ext cx="0" cy="182880"/>
          </a:xfrm>
          <a:prstGeom prst="line">
            <a:avLst/>
          </a:prstGeom>
          <a:ln w="25400">
            <a:solidFill>
              <a:srgbClr val="00E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8988552" y="6071615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76"/>
                </a:solidFill>
                <a:latin typeface="Segoe UI"/>
              </a:rPr>
              <a:t>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46520" y="6144768"/>
            <a:ext cx="5321808" cy="521207"/>
          </a:xfrm>
          <a:prstGeom prst="roundRect">
            <a:avLst>
              <a:gd name="adj" fmla="val 9000"/>
            </a:avLst>
          </a:prstGeom>
          <a:solidFill>
            <a:srgbClr val="0D1B2A"/>
          </a:solidFill>
          <a:ln w="15240">
            <a:solidFill>
              <a:srgbClr val="6B8AA8"/>
            </a:solidFill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446520" y="6227064"/>
            <a:ext cx="41148" cy="347472"/>
          </a:xfrm>
          <a:prstGeom prst="rect">
            <a:avLst/>
          </a:prstGeom>
          <a:solidFill>
            <a:srgbClr val="6B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01968" y="6217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B8AA8"/>
                </a:solidFill>
                <a:latin typeface="Segoe UI"/>
              </a:rPr>
              <a:t>Versioned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95360" y="6272784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Every change tracked in VersionStore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AA8"/>
                </a:solidFill>
                <a:latin typeface="Segoe UI"/>
              </a:rPr>
              <a:t>EPAM Hackathon 2026  ·  Stream 3: Connectors for Gemini Applications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503152" y="65562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8AA8"/>
                </a:solidFill>
                <a:latin typeface="Segoe U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C14"/>
              </a:gs>
              <a:gs pos="100000">
                <a:srgbClr val="0A1824"/>
              </a:gs>
            </a:gsLst>
            <a:lin ang="75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5752" y="-4114800"/>
            <a:ext cx="6400800" cy="6400800"/>
          </a:xfrm>
          <a:prstGeom prst="ellipse">
            <a:avLst/>
          </a:prstGeom>
          <a:solidFill>
            <a:srgbClr val="00E57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91840" y="4754880"/>
            <a:ext cx="5120640" cy="5120640"/>
          </a:xfrm>
          <a:prstGeom prst="ellipse">
            <a:avLst/>
          </a:prstGeom>
          <a:solidFill>
            <a:srgbClr val="00E57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2011680" cy="256032"/>
          </a:xfrm>
          <a:prstGeom prst="roundRect">
            <a:avLst>
              <a:gd name="adj" fmla="val 20000"/>
            </a:avLst>
          </a:prstGeom>
          <a:solidFill>
            <a:srgbClr val="14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6"/>
                </a:solidFill>
                <a:latin typeface="Segoe UI"/>
              </a:rPr>
              <a:t>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Measurable value from day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8AA8"/>
                </a:solidFill>
                <a:latin typeface="Segoe UI"/>
              </a:rPr>
              <a:t>Prototype benchmarks — controlled demo environment</a:t>
            </a:r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00E576"/>
              </a:gs>
              <a:gs pos="100000">
                <a:srgbClr val="00FFD4"/>
              </a:gs>
            </a:gsLst>
            <a:lin ang="0" scaled="0"/>
          </a:gradFill>
          <a:xfrm>
            <a:off x="502920" y="1737360"/>
            <a:ext cx="5029200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411480" y="1901952"/>
            <a:ext cx="2267712" cy="118872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993392"/>
            <a:ext cx="1261872" cy="50292"/>
          </a:xfrm>
          <a:prstGeom prst="roundRect">
            <a:avLst>
              <a:gd name="adj" fmla="val 20000"/>
            </a:avLst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84832"/>
            <a:ext cx="22677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76"/>
                </a:solidFill>
                <a:latin typeface="Segoe U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06624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Columns auto-mapped
(events table)</a:t>
            </a:r>
          </a:p>
        </p:txBody>
      </p:sp>
      <p:sp>
        <p:nvSpPr>
          <p:cNvPr id="14" name="Rectangle 13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2816352" y="1901952"/>
            <a:ext cx="2267712" cy="118872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9272" y="1993392"/>
            <a:ext cx="1261872" cy="50292"/>
          </a:xfrm>
          <a:prstGeom prst="roundRect">
            <a:avLst>
              <a:gd name="adj" fmla="val 20000"/>
            </a:avLst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2084832"/>
            <a:ext cx="22677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FFD4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706624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Manual SQL queries
avoided per table</a:t>
            </a:r>
          </a:p>
        </p:txBody>
      </p:sp>
      <p:sp>
        <p:nvSpPr>
          <p:cNvPr id="18" name="Rectangle 17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5221224" y="1901952"/>
            <a:ext cx="2267712" cy="118872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24144" y="1993392"/>
            <a:ext cx="1261872" cy="50292"/>
          </a:xfrm>
          <a:prstGeom prst="roundRect">
            <a:avLst>
              <a:gd name="adj" fmla="val 20000"/>
            </a:avLst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084832"/>
            <a:ext cx="22677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FF"/>
                </a:solidFill>
                <a:latin typeface="Segoe UI"/>
              </a:rPr>
              <a:t>&lt; 30s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2706624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Plan generation
time per table</a:t>
            </a:r>
          </a:p>
        </p:txBody>
      </p:sp>
      <p:sp>
        <p:nvSpPr>
          <p:cNvPr id="22" name="Rectangle 21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7626096" y="1901952"/>
            <a:ext cx="2267712" cy="118872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9016" y="1993392"/>
            <a:ext cx="1261872" cy="50292"/>
          </a:xfrm>
          <a:prstGeom prst="roundRect">
            <a:avLst>
              <a:gd name="adj" fmla="val 20000"/>
            </a:avLst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6" y="2084832"/>
            <a:ext cx="22677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76"/>
                </a:solidFill>
                <a:latin typeface="Segoe UI"/>
              </a:rPr>
              <a:t>31/31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2706624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Security tests
passing</a:t>
            </a:r>
          </a:p>
        </p:txBody>
      </p:sp>
      <p:sp>
        <p:nvSpPr>
          <p:cNvPr id="26" name="Rectangle 25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100000" scaled="0"/>
          </a:gradFill>
          <a:xfrm>
            <a:off x="10030968" y="1901952"/>
            <a:ext cx="2267712" cy="118872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33888" y="1993392"/>
            <a:ext cx="1261872" cy="50292"/>
          </a:xfrm>
          <a:prstGeom prst="roundRect">
            <a:avLst>
              <a:gd name="adj" fmla="val 20000"/>
            </a:avLst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30968" y="2084832"/>
            <a:ext cx="22677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76"/>
                </a:solidFill>
                <a:latin typeface="Segoe U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8" y="2706624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8AA8"/>
                </a:solidFill>
                <a:latin typeface="Segoe UI"/>
              </a:rPr>
              <a:t>Credential leaks
detected</a:t>
            </a:r>
          </a:p>
        </p:txBody>
      </p:sp>
      <p:sp>
        <p:nvSpPr>
          <p:cNvPr id="30" name="Rectangle 29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9000000" scaled="0"/>
          </a:gradFill>
          <a:xfrm>
            <a:off x="411480" y="3246120"/>
            <a:ext cx="5394960" cy="320040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246120"/>
            <a:ext cx="5394960" cy="50292"/>
          </a:xfrm>
          <a:prstGeom prst="rect">
            <a:avLst/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3101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FFD4"/>
                </a:solidFill>
                <a:latin typeface="Segoe UI"/>
              </a:rPr>
              <a:t>SCALE PROJECTION  (illustrative)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7033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5EE"/>
                </a:solidFill>
                <a:latin typeface="Segoe UI"/>
              </a:rPr>
              <a:t>▸  200 tables migrated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7033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D4"/>
                </a:solidFill>
                <a:latin typeface="Segoe UI"/>
              </a:rPr>
              <a:t>~6,300 engineer hours saved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12394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5EE"/>
                </a:solidFill>
                <a:latin typeface="Segoe UI"/>
              </a:rPr>
              <a:t>▸  40 columns avg · 90% auto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1239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D4"/>
                </a:solidFill>
                <a:latin typeface="Segoe UI"/>
              </a:rPr>
              <a:t>~90% reduction in validation effort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5445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5EE"/>
                </a:solidFill>
                <a:latin typeface="Segoe UI"/>
              </a:rPr>
              <a:t>▸  3 source systems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45445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D4"/>
                </a:solidFill>
                <a:latin typeface="Segoe UI"/>
              </a:rPr>
              <a:t>Single Gemini interface — fully federated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96519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5EE"/>
                </a:solidFill>
                <a:latin typeface="Segoe UI"/>
              </a:rPr>
              <a:t>▸  €100 / hr blended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49651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D4"/>
                </a:solidFill>
                <a:latin typeface="Segoe UI"/>
              </a:rPr>
              <a:t>~€630,000 saved per migration project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4772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8AA8"/>
                </a:solidFill>
                <a:latin typeface="Segoe UI"/>
              </a:rPr>
              <a:t>* Illustrative — based on industry-typical effort estimates</a:t>
            </a:r>
          </a:p>
        </p:txBody>
      </p:sp>
      <p:sp>
        <p:nvSpPr>
          <p:cNvPr id="42" name="Rectangle 41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700000" scaled="0"/>
          </a:gradFill>
          <a:xfrm>
            <a:off x="6035040" y="3246120"/>
            <a:ext cx="5760720" cy="320040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35040" y="3246120"/>
            <a:ext cx="5760720" cy="5029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33101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76"/>
                </a:solidFill>
                <a:latin typeface="Segoe UI"/>
              </a:rPr>
              <a:t>ENTERPRISE VALUE PROPOSITIONS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3703320"/>
            <a:ext cx="41148" cy="65836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373989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  <a:latin typeface="Segoe UI"/>
              </a:rPr>
              <a:t>Compliance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79476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Every mapping: auditable human actor, timestamp, reason, version.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471416"/>
            <a:ext cx="41148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45079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Segoe UI"/>
              </a:rPr>
              <a:t>Risk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4562856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Confidence scoring surfaces ambiguous mappings before production.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5239512"/>
            <a:ext cx="41148" cy="65836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52760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  <a:latin typeface="Segoe UI"/>
              </a:rPr>
              <a:t>Speed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5330952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Gemini explains failures in natural language — no SQL expertise.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6007608"/>
            <a:ext cx="41148" cy="658368"/>
          </a:xfrm>
          <a:prstGeom prst="rect">
            <a:avLst/>
          </a:prstGeom>
          <a:solidFill>
            <a:srgbClr val="0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604418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D4"/>
                </a:solidFill>
                <a:latin typeface="Segoe UI"/>
              </a:rPr>
              <a:t>Scale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6099048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5EE"/>
                </a:solidFill>
                <a:latin typeface="Segoe UI"/>
              </a:rPr>
              <a:t>Portfolio view across all layers in one natural language question.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AA8"/>
                </a:solidFill>
                <a:latin typeface="Segoe UI"/>
              </a:rPr>
              <a:t>EPAM Hackathon 2026  ·  Stream 3: Connectors for Gemini Applications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03152" y="65562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8AA8"/>
                </a:solidFill>
                <a:latin typeface="Segoe U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C"/>
              </a:gs>
              <a:gs pos="100000">
                <a:srgbClr val="0C1C30"/>
              </a:gs>
            </a:gsLst>
            <a:lin ang="84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5752" y="-4114800"/>
            <a:ext cx="6400800" cy="6400800"/>
          </a:xfrm>
          <a:prstGeom prst="ellipse">
            <a:avLst/>
          </a:prstGeom>
          <a:solidFill>
            <a:srgbClr val="00B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91840" y="4754880"/>
            <a:ext cx="5120640" cy="5120640"/>
          </a:xfrm>
          <a:prstGeom prst="ellipse">
            <a:avLst/>
          </a:prstGeom>
          <a:solidFill>
            <a:srgbClr val="00B4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2011680" cy="256032"/>
          </a:xfrm>
          <a:prstGeom prst="roundRect">
            <a:avLst>
              <a:gd name="adj" fmla="val 20000"/>
            </a:avLst>
          </a:prstGeom>
          <a:solidFill>
            <a:srgbClr val="14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Segoe UI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Built for scale. Ready to extend.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5EE"/>
                </a:solidFill>
                <a:latin typeface="Segoe UI"/>
              </a:rPr>
              <a:t>The connector pattern is extensible — any tool, any source, any governance.</a:t>
            </a:r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00B4FF"/>
              </a:gs>
              <a:gs pos="100000">
                <a:srgbClr val="00FFD4"/>
              </a:gs>
            </a:gsLst>
            <a:lin ang="0" scaled="0"/>
          </a:gradFill>
          <a:xfrm>
            <a:off x="502920" y="1783080"/>
            <a:ext cx="5029200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700000" scaled="0"/>
          </a:gradFill>
          <a:xfrm>
            <a:off x="411480" y="1938528"/>
            <a:ext cx="5577840" cy="443484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938528"/>
            <a:ext cx="5577840" cy="5029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993392"/>
            <a:ext cx="2286000" cy="256032"/>
          </a:xfrm>
          <a:prstGeom prst="roundRect">
            <a:avLst>
              <a:gd name="adj" fmla="val 20000"/>
            </a:avLst>
          </a:prstGeom>
          <a:solidFill>
            <a:srgbClr val="052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93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6"/>
                </a:solidFill>
                <a:latin typeface="Segoe UI"/>
              </a:rPr>
              <a:t>✓  CURRENT  · 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77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DD5EE"/>
                </a:solidFill>
                <a:latin typeface="Segoe UI"/>
              </a:rPr>
              <a:t>✓  PostgreSQL · MSSQL · AWS Athena  →  Snowflake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7706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DD5EE"/>
                </a:solidFill>
                <a:latin typeface="Segoe UI"/>
              </a:rPr>
              <a:t>✓  24 Gemini function-calling tools (6 categories)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63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DD5EE"/>
                </a:solidFill>
                <a:latin typeface="Segoe UI"/>
              </a:rPr>
              <a:t>✓  5-role RBAC + JWT / Static token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5570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DD5EE"/>
                </a:solidFill>
                <a:latin typeface="Segoe UI"/>
              </a:rPr>
              <a:t>✓  Optimistic concurrency (VersionStore · HTTP 409)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50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DD5EE"/>
                </a:solidFill>
                <a:latin typeface="Segoe UI"/>
              </a:rPr>
              <a:t>✓  Append-only audit log (AuditLogger · JSONL)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43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DD5EE"/>
                </a:solidFill>
                <a:latin typeface="Segoe UI"/>
              </a:rPr>
              <a:t>✓  Confidence-based human review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736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DD5EE"/>
                </a:solidFill>
                <a:latin typeface="Segoe UI"/>
              </a:rPr>
              <a:t>✓  Streamlit Web UI + FastAPI Connector + 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1297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DD5EE"/>
                </a:solidFill>
                <a:latin typeface="Segoe UI"/>
              </a:rPr>
              <a:t>✓  31 / 31 security tests passing</a:t>
            </a:r>
          </a:p>
        </p:txBody>
      </p:sp>
      <p:sp>
        <p:nvSpPr>
          <p:cNvPr id="22" name="Rectangle 21"/>
          <p:cNvSpPr/>
          <p:nvPr/>
        </p:nvSpPr>
        <p:spPr>
          <a:gradFill>
            <a:gsLst>
              <a:gs pos="0">
                <a:srgbClr val="1E3852"/>
              </a:gs>
              <a:gs pos="100000">
                <a:srgbClr val="0D1B2A"/>
              </a:gs>
            </a:gsLst>
            <a:lin ang="8700000" scaled="0"/>
          </a:gradFill>
          <a:xfrm>
            <a:off x="6236208" y="1938528"/>
            <a:ext cx="5577840" cy="443484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5715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938528"/>
            <a:ext cx="5577840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19088" y="1993392"/>
            <a:ext cx="1280160" cy="256032"/>
          </a:xfrm>
          <a:prstGeom prst="roundRect">
            <a:avLst>
              <a:gd name="adj" fmla="val 20000"/>
            </a:avLst>
          </a:prstGeom>
          <a:solidFill>
            <a:srgbClr val="28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93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C00"/>
                </a:solidFill>
                <a:latin typeface="Segoe UI"/>
              </a:rPr>
              <a:t>◦  PLANNED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7744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◦  Production hardening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2432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Connection pooling · Async 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6265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◦  Additional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20954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Oracle · BigQuery · MySQL · DB2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4787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◦  Streaming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79476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Real-time CDC change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13308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◦  Enterprise 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7997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OIDC / OAuth 2.0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71830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◦  Slack notifications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6519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Approval requests routed to reviewers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0352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◦  Multi-tenant 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55040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Per-project namespace isolation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88873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◦  AI remediation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613562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AA8"/>
                </a:solidFill>
                <a:latin typeface="Segoe UI"/>
              </a:rPr>
              <a:t>Auto-fix suggestions from Gemini</a:t>
            </a:r>
          </a:p>
        </p:txBody>
      </p:sp>
      <p:sp>
        <p:nvSpPr>
          <p:cNvPr id="40" name="Rectangle 39"/>
          <p:cNvSpPr/>
          <p:nvPr/>
        </p:nvSpPr>
        <p:spPr>
          <a:gradFill>
            <a:gsLst>
              <a:gs pos="0">
                <a:srgbClr val="001838"/>
              </a:gs>
              <a:gs pos="100000">
                <a:srgbClr val="0D1B2A"/>
              </a:gs>
            </a:gsLst>
            <a:lin ang="0" scaled="0"/>
          </a:gradFill>
          <a:xfrm>
            <a:off x="411480" y="6099048"/>
            <a:ext cx="11365992" cy="713232"/>
          </a:xfrm>
          <a:prstGeom prst="roundRect">
            <a:avLst>
              <a:gd name="adj" fmla="val 9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6099048"/>
            <a:ext cx="64008" cy="71323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6153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FF"/>
                </a:solidFill>
                <a:latin typeface="Segoe UI"/>
              </a:rPr>
              <a:t>Migration Validator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61904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Segoe UI"/>
              </a:rPr>
              <a:t>Governed enterprise migration validation through natural language.  Human oversight. Audit trail. Production-ready.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AA8"/>
                </a:solidFill>
                <a:latin typeface="Segoe UI"/>
              </a:rPr>
              <a:t>EPAM Hackathon 2026  ·  Stream 3: Connectors for Gemini Applications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03152" y="65562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8AA8"/>
                </a:solidFill>
                <a:latin typeface="Segoe U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