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29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neshRustumMane\AppData\Local\Temp\claude\C--Users-GaneshRustumMane-Anthropic\a3c25283-9785-45ee-8218-e35498d2f612\scratchpad\pptx\icons\exchange_1F8A8C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1200000">
            <a:off x="9692640" y="3200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VALIDATOR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for Snowflake Migrations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3794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 data actually landed correctly — from schema to a validation-ready YAML spec.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8680" y="5074920"/>
            <a:ext cx="502920" cy="502920"/>
          </a:xfrm>
          <a:prstGeom prst="ellipse">
            <a:avLst/>
          </a:prstGeom>
          <a:solidFill>
            <a:srgbClr val="132A4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C:\Users\GaneshRustumMane\AppData\Local\Temp\claude\C--Users-GaneshRustumMane-Anthropic\a3c25283-9785-45ee-8218-e35498d2f612\scratchpad\pptx\icons\database_2FD9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518807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6052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517904" y="5248656"/>
            <a:ext cx="457200" cy="155448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2103120" y="5074920"/>
            <a:ext cx="502920" cy="50292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C:\Users\GaneshRustumMane\AppData\Local\Temp\claude\C--Users-GaneshRustumMane-Anthropic\a3c25283-9785-45ee-8218-e35498d2f612\scratchpad\pptx\icons\cog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277" y="518807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56052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52344" y="5248656"/>
            <a:ext cx="457200" cy="155448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3337560" y="5074920"/>
            <a:ext cx="502920" cy="502920"/>
          </a:xfrm>
          <a:prstGeom prst="ellipse">
            <a:avLst/>
          </a:prstGeom>
          <a:solidFill>
            <a:srgbClr val="132A4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C:\Users\GaneshRustumMane\AppData\Local\Temp\claude\C--Users-GaneshRustumMane-Anthropic\a3c25283-9785-45ee-8218-e35498d2f612\scratchpad\pptx\icons\snowflake_2FD9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717" y="5188077"/>
            <a:ext cx="276606" cy="2766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71800" y="56052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986784" y="5248656"/>
            <a:ext cx="457200" cy="155448"/>
          </a:xfrm>
          <a:prstGeom prst="rightArrow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4572000" y="5074920"/>
            <a:ext cx="502920" cy="502920"/>
          </a:xfrm>
          <a:prstGeom prst="ellipse">
            <a:avLst/>
          </a:prstGeom>
          <a:solidFill>
            <a:srgbClr val="132A4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C:\Users\GaneshRustumMane\AppData\Local\Temp\claude\C--Users-GaneshRustumMane-Anthropic\a3c25283-9785-45ee-8218-e35498d2f612\scratchpad\pptx\icons\file_2FD9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157" y="5188077"/>
            <a:ext cx="276606" cy="2766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06240" y="56052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Spec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|  Project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43267" y="1824228"/>
            <a:ext cx="5955676" cy="4338828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/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63307" y="2189988"/>
            <a:ext cx="548640" cy="54864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C:\Users\GaneshRustumMane\AppData\Local\Temp\claude\C--Users-GaneshRustumMane-Anthropic\a3c25283-9785-45ee-8218-e35498d2f612\scratchpad\pptx\icons\shield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1808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4827" y="22174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project closes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163307" y="2875788"/>
            <a:ext cx="5635636" cy="235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migration has a blind spot: type conversions,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shifts, and precision drift that corrupt data without ever failing a job.</a:t>
            </a:r>
          </a:p>
          <a:p>
            <a:pPr lvl="0" algn="just"/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"It ran successfully" and "it's correct" are two different claims -  most pipelines only prove the first one.</a:t>
            </a:r>
          </a:p>
          <a:p>
            <a:pPr lvl="0" algn="just"/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Validator proves the second: an independent, row-level check between source and Snowflake, backed by real generated SQL - not trust.</a:t>
            </a:r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sits between the two databases and produces a portable validation spec.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359152"/>
            <a:ext cx="548640" cy="54864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GaneshRustumMane\AppData\Local\Temp\claude\C--Users-GaneshRustumMane-Anthropic\a3c25283-9785-45ee-8218-e35498d2f612\scratchpad\pptx\icons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4825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957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Databases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MS SQL Server  ·  Athena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93008" y="2889504"/>
            <a:ext cx="502920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160520" y="187452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  <a:effectLst>
            <a:outerShdw blurRad="101600" dist="508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760720" y="2057400"/>
            <a:ext cx="640080" cy="64008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C:\Users\GaneshRustumMane\AppData\Local\Temp\claude\C--Users-GaneshRustumMane-Anthropic\a3c25283-9785-45ee-8218-e35498d2f612\scratchpad\pptx\icons\cogs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738" y="22014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761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Validator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343400" y="31272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·  Map  ·  Normalize  ·  Generate SQL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2889504"/>
            <a:ext cx="502920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686800" y="210312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006840" y="2359152"/>
            <a:ext cx="548640" cy="54864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C:\Users\GaneshRustumMane\AppData\Local\Temp\claude\C--Users-GaneshRustumMane-Anthropic\a3c25283-9785-45ee-8218-e35498d2f612\scratchpad\pptx\icons\snowflak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284" y="248259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92640" y="23957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91540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98464" y="4133088"/>
            <a:ext cx="164592" cy="365760"/>
          </a:xfrm>
          <a:prstGeom prst="downArrow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703320" y="459028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FD9C4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931920" y="4745736"/>
            <a:ext cx="548640" cy="54864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C:\Users\GaneshRustumMane\AppData\Local\Temp\claude\C--Users-GaneshRustumMane-Anthropic\a3c25283-9785-45ee-8218-e35498d2f612\scratchpad\pptx\icons\file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5364" y="4869180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63440" y="4718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Validation Config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663440" y="5029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query + Snowflake query + table metadata — the executable validation spec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Connect to YAML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always in this order — cheapest / most-certain checks run first.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5636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1528" y="15453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C:\Users\GaneshRustumMane\AppData\Local\Temp\claude\C--Users-GaneshRustumMane-Anthropic\a3c25283-9785-45ee-8218-e35498d2f612\scratchpad\pptx\icons\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054" y="1635862"/>
            <a:ext cx="221285" cy="2212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9842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23134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source + Snowflake target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0" y="2052828"/>
            <a:ext cx="292608" cy="146304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178808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343400" y="15636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34340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11696" y="15453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C:\Users\GaneshRustumMane\AppData\Local\Temp\claude\C--Users-GaneshRustumMane-Anthropic\a3c25283-9785-45ee-8218-e35498d2f612\scratchpad\pptx\icons\tab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222" y="1635862"/>
            <a:ext cx="221285" cy="22128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19842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Extraction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343400" y="23134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column name + native type, both sides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470648" y="2052828"/>
            <a:ext cx="292608" cy="146304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808976" y="14173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973568" y="15636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973568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0341864" y="15453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2" descr="C:\Users\GaneshRustumMane\AppData\Local\Temp\claude\C--Users-GaneshRustumMane-Anthropic\a3c25283-9785-45ee-8218-e35498d2f612\scratchpad\pptx\icons\fil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2390" y="1635862"/>
            <a:ext cx="221285" cy="22128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73568" y="19842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Exclusion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973568" y="23134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known-skip columns by name first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713232" y="33924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713232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3081528" y="33741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3" descr="C:\Users\GaneshRustumMane\AppData\Local\Temp\claude\C--Users-GaneshRustumMane-Anthropic\a3c25283-9785-45ee-8218-e35498d2f612\scratchpad\pptx\icons\lin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054" y="3464662"/>
            <a:ext cx="221285" cy="22128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8130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Mapping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13232" y="41422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→ Learned → Fuzzy → AI (ambiguous only)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840480" y="3881628"/>
            <a:ext cx="292608" cy="146304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4178808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4343400" y="33924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434340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6711696" y="33741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4" descr="C:\Users\GaneshRustumMane\AppData\Local\Temp\claude\C--Users-GaneshRustumMane-Anthropic\a3c25283-9785-45ee-8218-e35498d2f612\scratchpad\pptx\icons\cog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222" y="3464662"/>
            <a:ext cx="221285" cy="22128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343400" y="38130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Assignment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4343400" y="41422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normalization rule by type pair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470648" y="3881628"/>
            <a:ext cx="292608" cy="146304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7808976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7973568" y="339242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8"/>
          <p:cNvSpPr/>
          <p:nvPr/>
        </p:nvSpPr>
        <p:spPr>
          <a:xfrm>
            <a:off x="7973568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10341864" y="3374136"/>
            <a:ext cx="402336" cy="402336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5" descr="C:\Users\GaneshRustumMane\AppData\Local\Temp\claude\C--Users-GaneshRustumMane-Anthropic\a3c25283-9785-45ee-8218-e35498d2f612\scratchpad\pptx\icons\cod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2390" y="3464662"/>
            <a:ext cx="221285" cy="22128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973568" y="3813048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Generation</a:t>
            </a:r>
            <a:endParaRPr lang="en-US" sz="1350" dirty="0"/>
          </a:p>
        </p:txBody>
      </p:sp>
      <p:sp>
        <p:nvSpPr>
          <p:cNvPr id="49" name="Text 41"/>
          <p:cNvSpPr/>
          <p:nvPr/>
        </p:nvSpPr>
        <p:spPr>
          <a:xfrm>
            <a:off x="7973568" y="41422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source + target SELECT queries</a:t>
            </a:r>
            <a:endParaRPr 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548640" y="5285232"/>
            <a:ext cx="10506456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6"/>
          <p:cNvSpPr/>
          <p:nvPr/>
        </p:nvSpPr>
        <p:spPr>
          <a:xfrm>
            <a:off x="777240" y="5404104"/>
            <a:ext cx="530352" cy="530352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6" descr="C:\Users\GaneshRustumMane\AppData\Local\Temp\claude\C--Users-GaneshRustumMane-Anthropic\a3c25283-9785-45ee-8218-e35498d2f612\scratchpad\pptx\icons\file_0B1F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569" y="5523433"/>
            <a:ext cx="291694" cy="291694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463040" y="5376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YAML Config Creation</a:t>
            </a:r>
            <a:endParaRPr lang="en-US" sz="1400" dirty="0"/>
          </a:p>
        </p:txBody>
      </p:sp>
      <p:sp>
        <p:nvSpPr>
          <p:cNvPr id="57" name="Text 48"/>
          <p:cNvSpPr/>
          <p:nvPr/>
        </p:nvSpPr>
        <p:spPr>
          <a:xfrm>
            <a:off x="1463040" y="5696712"/>
            <a:ext cx="9317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queries + table metadata + PK columns written to YAML — the executable validation spec.</a:t>
            </a:r>
            <a:endParaRPr lang="en-US" sz="1100" dirty="0"/>
          </a:p>
        </p:txBody>
      </p:sp>
      <p:sp>
        <p:nvSpPr>
          <p:cNvPr id="58" name="Shape 49"/>
          <p:cNvSpPr/>
          <p:nvPr/>
        </p:nvSpPr>
        <p:spPr>
          <a:xfrm>
            <a:off x="5719572" y="4773168"/>
            <a:ext cx="164592" cy="384048"/>
          </a:xfrm>
          <a:prstGeom prst="downArrow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60" name="Text 5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Normalization Rules Matter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databases rarely format the same value the same way — rules make them comparable.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CEFEF"/>
          </a:solidFill>
          <a:ln w="12700">
            <a:solidFill>
              <a:srgbClr val="E7B9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Without normalization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</a:rPr>
              <a:t>Source (Postgres):  </a:t>
            </a:r>
            <a:r>
              <a:rPr lang="en-US" sz="1300" b="1" dirty="0">
                <a:solidFill>
                  <a:srgbClr val="9A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'true'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</a:rPr>
              <a:t>Target (Snowflake): </a:t>
            </a:r>
            <a:r>
              <a:rPr lang="en-US" sz="1300" b="1" dirty="0">
                <a:solidFill>
                  <a:srgbClr val="9A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'TRUE'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reported as a MISMATCH — even though the data is identical.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AF6"/>
          </a:solidFill>
          <a:ln w="12700">
            <a:solidFill>
              <a:srgbClr val="9DE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63640" y="1764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With the Boolean rule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22219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</a:rPr>
              <a:t>Source (Postgres):  </a:t>
            </a:r>
            <a:r>
              <a:rPr lang="en-US" sz="1300" strike="sngStrike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'true'</a:t>
            </a:r>
            <a:r>
              <a:rPr lang="en-US" sz="1300" dirty="0">
                <a:solidFill>
                  <a:srgbClr val="0B1F3A"/>
                </a:solidFill>
              </a:rPr>
              <a:t>  →  </a:t>
            </a:r>
            <a:r>
              <a:rPr lang="en-US" sz="1300" b="1" dirty="0">
                <a:solidFill>
                  <a:srgbClr val="0F6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</a:rPr>
              <a:t>Target (Snowflake): </a:t>
            </a:r>
            <a:r>
              <a:rPr lang="en-US" sz="1300" strike="sngStrike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'TRUE'</a:t>
            </a:r>
            <a:r>
              <a:rPr lang="en-US" sz="1300" dirty="0">
                <a:solidFill>
                  <a:srgbClr val="0B1F3A"/>
                </a:solidFill>
              </a:rPr>
              <a:t>  →  </a:t>
            </a:r>
            <a:r>
              <a:rPr lang="en-US" sz="1300" b="1" dirty="0">
                <a:solidFill>
                  <a:srgbClr val="0F6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898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F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correctly reported as a MATCH.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rule follows the same three-layer pattern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31136" y="4361688"/>
            <a:ext cx="566928" cy="566928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C:\Users\GaneshRustumMane\AppData\Local\Temp\claude\C--Users-GaneshRustumMane-Anthropic\a3c25283-9785-45ee-8218-e35498d2f612\scratchpad\pptx\icons\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695" y="4489247"/>
            <a:ext cx="311810" cy="31181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5056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Type-Specific Transform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5367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TRIM(), CASE WHEN → '1'/'0', hex-encode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61104" y="4855464"/>
            <a:ext cx="347472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663440" y="4160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071616" y="4361688"/>
            <a:ext cx="566928" cy="566928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C:\Users\GaneshRustumMane\AppData\Local\Temp\claude\C--Users-GaneshRustumMane-Anthropic\a3c25283-9785-45ee-8218-e35498d2f612\scratchpad\pptx\icons\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175" y="4489247"/>
            <a:ext cx="311810" cy="31181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800600" y="5056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to Text / String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846320" y="5367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Engine-agnostic, unambiguous comparison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101584" y="4855464"/>
            <a:ext cx="347472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8503920" y="4160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9912096" y="4361688"/>
            <a:ext cx="566928" cy="566928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2" descr="C:\Users\GaneshRustumMane\AppData\Local\Temp\claude\C--Users-GaneshRustumMane-Anthropic\a3c25283-9785-45ee-8218-e35498d2f612\scratchpad\pptx\icons\shield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655" y="4489247"/>
            <a:ext cx="311810" cy="31181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41080" y="5056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NULL-Safe Sentinel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686800" y="5367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COALESCE(..., '&lt;&lt;NULL&gt;&gt;') — always last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Book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rules — extendable without touching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17720" y="16916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blurRad="101600" dist="508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82312" y="1929384"/>
            <a:ext cx="566928" cy="566928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GaneshRustumMane\AppData\Local\Temp\claude\C--Users-GaneshRustumMane-Anthropic\a3c25283-9785-45ee-8218-e35498d2f612\scratchpad\pptx\icons\book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71" y="2056943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856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postgres_base_rules.py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2221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11 rule types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4400" y="33741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MSSQL rules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3685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re-exports the same rules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32461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33741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rules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54880" y="3685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re-exports the same rules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75320" y="32461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412480" y="33741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 rules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12480" y="3685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re-exports the same rules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194560" y="2994660"/>
            <a:ext cx="7498080" cy="0"/>
          </a:xfrm>
          <a:prstGeom prst="line">
            <a:avLst/>
          </a:prstGeom>
          <a:noFill/>
          <a:ln w="19050">
            <a:solidFill>
              <a:srgbClr val="1F8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080760" y="2743200"/>
            <a:ext cx="0" cy="251460"/>
          </a:xfrm>
          <a:prstGeom prst="line">
            <a:avLst/>
          </a:prstGeom>
          <a:noFill/>
          <a:ln w="19050">
            <a:solidFill>
              <a:srgbClr val="1F8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194560" y="2994660"/>
            <a:ext cx="0" cy="251460"/>
          </a:xfrm>
          <a:prstGeom prst="line">
            <a:avLst/>
          </a:prstGeom>
          <a:noFill/>
          <a:ln w="19050">
            <a:solidFill>
              <a:srgbClr val="1F8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035040" y="2994660"/>
            <a:ext cx="0" cy="251460"/>
          </a:xfrm>
          <a:prstGeom prst="line">
            <a:avLst/>
          </a:prstGeom>
          <a:noFill/>
          <a:ln w="19050">
            <a:solidFill>
              <a:srgbClr val="1F8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692640" y="2994660"/>
            <a:ext cx="0" cy="251460"/>
          </a:xfrm>
          <a:prstGeom prst="line">
            <a:avLst/>
          </a:prstGeom>
          <a:noFill/>
          <a:ln w="19050">
            <a:solidFill>
              <a:srgbClr val="1F8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rules safely — the "Learned Rules" gate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2960" y="4892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005840" y="5074920"/>
            <a:ext cx="457200" cy="45720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1" descr="C:\Users\GaneshRustumMane\AppData\Local\Temp\claude\C--Users-GaneshRustumMane-Anthropic\a3c25283-9785-45ee-8218-e35498d2f612\scratchpad\pptx\icons\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5177790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600200" y="5074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005840" y="56052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rule — advisory only, never touches real SQL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123944" y="5426964"/>
            <a:ext cx="292608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4453128" y="4892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4636008" y="5074920"/>
            <a:ext cx="457200" cy="457200"/>
          </a:xfrm>
          <a:prstGeom prst="ellipse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2" descr="C:\Users\GaneshRustumMane\AppData\Local\Temp\claude\C--Users-GaneshRustumMane-Anthropic\a3c25283-9785-45ee-8218-e35498d2f612\scratchpad\pptx\icons\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878" y="5177790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30368" y="5074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4636008" y="56052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checks it before it can go live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754112" y="5426964"/>
            <a:ext cx="292608" cy="164592"/>
          </a:xfrm>
          <a:prstGeom prst="rightArrow">
            <a:avLst/>
          </a:prstGeom>
          <a:solidFill>
            <a:srgbClr val="1F8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8083296" y="48920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  <a:effectLst>
            <a:outerShdw blurRad="762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8266176" y="5074920"/>
            <a:ext cx="457200" cy="45720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C:\Users\GaneshRustumMane\AppData\Local\Temp\claude\C--Users-GaneshRustumMane-Anthropic\a3c25283-9785-45ee-8218-e35498d2f612\scratchpad\pptx\icons\check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9046" y="5177790"/>
            <a:ext cx="251460" cy="2514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860536" y="5074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8266176" y="56052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used as a gap-filler for uncovered type pairs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today stops at YAML generation — these are the near-term follow-ups.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25980" y="2446451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32A4E"/>
          </a:solidFill>
          <a:ln/>
          <a:effectLst>
            <a:outerShdw blurRad="1016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0" y="2766491"/>
            <a:ext cx="685800" cy="68580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C:\Users\GaneshRustumMane\AppData\Local\Temp\claude\C--Users-GaneshRustumMane-Anthropic\a3c25283-9785-45ee-8218-e35498d2f612\scratchpad\pptx\icons\check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2920796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54580" y="3680891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learned corrections in the UI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400300" y="4275251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when a mapping came from a saved human decision, not just a fresh guess.</a:t>
            </a:r>
            <a:endParaRPr lang="en-US" sz="1100" dirty="0"/>
          </a:p>
        </p:txBody>
      </p:sp>
      <p:pic>
        <p:nvPicPr>
          <p:cNvPr id="11" name="Image 1" descr="C:\Users\GaneshRustumMane\AppData\Local\Temp\claude\C--Users-GaneshRustumMane-Anthropic\a3c25283-9785-45ee-8218-e35498d2f612\scratchpad\pptx\icons\link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920796"/>
            <a:ext cx="377190" cy="37719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29400" y="2446451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32A4E"/>
          </a:solidFill>
          <a:ln/>
          <a:effectLst>
            <a:outerShdw blurRad="1016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978140" y="2766491"/>
            <a:ext cx="685800" cy="685800"/>
          </a:xfrm>
          <a:prstGeom prst="ellipse">
            <a:avLst/>
          </a:prstGeom>
          <a:solidFill>
            <a:srgbClr val="2FD9C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C:\Users\GaneshRustumMane\AppData\Local\Temp\claude\C--Users-GaneshRustumMane-Anthropic\a3c25283-9785-45ee-8218-e35498d2f612\scratchpad\pptx\icons\book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445" y="2920796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3680891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rules dashboard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903720" y="4275251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activate learned rules without opening raw JSON.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Validator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561</Words>
  <Application>Microsoft Office PowerPoint</Application>
  <PresentationFormat>Widescreen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Validator</dc:title>
  <dc:subject>PptxGenJS Presentation</dc:subject>
  <dc:creator>Data Engineering</dc:creator>
  <cp:lastModifiedBy>Ganesh Rustum Mane</cp:lastModifiedBy>
  <cp:revision>4</cp:revision>
  <dcterms:created xsi:type="dcterms:W3CDTF">2026-08-25T08:35:30Z</dcterms:created>
  <dcterms:modified xsi:type="dcterms:W3CDTF">2026-08-25T09:10:25Z</dcterms:modified>
</cp:coreProperties>
</file>